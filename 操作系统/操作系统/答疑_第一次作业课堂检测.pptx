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19"/>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5" userDrawn="1">
          <p15:clr>
            <a:srgbClr val="A4A3A4"/>
          </p15:clr>
        </p15:guide>
        <p15:guide id="2" pos="38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5"/>
        <p:guide pos="386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68.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4.xml"/><Relationship Id="rId3" Type="http://schemas.openxmlformats.org/officeDocument/2006/relationships/image" Target="../media/image5.png"/><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7.xml"/><Relationship Id="rId3" Type="http://schemas.openxmlformats.org/officeDocument/2006/relationships/image" Target="../media/image3.png"/><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0.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3.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tags" Target="../tags/tag82.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6.xml"/><Relationship Id="rId4" Type="http://schemas.openxmlformats.org/officeDocument/2006/relationships/image" Target="../media/image9.png"/><Relationship Id="rId3" Type="http://schemas.openxmlformats.org/officeDocument/2006/relationships/image" Target="../media/image10.png"/><Relationship Id="rId2" Type="http://schemas.openxmlformats.org/officeDocument/2006/relationships/tags" Target="../tags/tag85.xml"/><Relationship Id="rId1" Type="http://schemas.openxmlformats.org/officeDocument/2006/relationships/tags" Target="../tags/tag84.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9.xml"/><Relationship Id="rId3" Type="http://schemas.openxmlformats.org/officeDocument/2006/relationships/image" Target="../media/image11.png"/><Relationship Id="rId2" Type="http://schemas.openxmlformats.org/officeDocument/2006/relationships/tags" Target="../tags/tag88.xml"/><Relationship Id="rId1" Type="http://schemas.openxmlformats.org/officeDocument/2006/relationships/tags" Target="../tags/tag87.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2.xml"/><Relationship Id="rId3" Type="http://schemas.openxmlformats.org/officeDocument/2006/relationships/image" Target="../media/image12.png"/><Relationship Id="rId2" Type="http://schemas.openxmlformats.org/officeDocument/2006/relationships/tags" Target="../tags/tag91.xml"/><Relationship Id="rId1" Type="http://schemas.openxmlformats.org/officeDocument/2006/relationships/tags" Target="../tags/tag90.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8.xml"/><Relationship Id="rId3" Type="http://schemas.openxmlformats.org/officeDocument/2006/relationships/image" Target="../media/image13.png"/><Relationship Id="rId2" Type="http://schemas.openxmlformats.org/officeDocument/2006/relationships/tags" Target="../tags/tag97.xml"/><Relationship Id="rId1" Type="http://schemas.openxmlformats.org/officeDocument/2006/relationships/tags" Target="../tags/tag96.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1.xml"/><Relationship Id="rId3" Type="http://schemas.openxmlformats.org/officeDocument/2006/relationships/image" Target="../media/image14.png"/><Relationship Id="rId2" Type="http://schemas.openxmlformats.org/officeDocument/2006/relationships/tags" Target="../tags/tag100.xml"/><Relationship Id="rId1" Type="http://schemas.openxmlformats.org/officeDocument/2006/relationships/tags" Target="../tags/tag99.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en-US"/>
              <a:t>操作系统</a:t>
            </a:r>
            <a:r>
              <a:rPr lang="zh-CN" altLang="en-US"/>
              <a:t>答疑</a:t>
            </a:r>
            <a:endParaRPr lang="zh-CN" altLang="en-US"/>
          </a:p>
        </p:txBody>
      </p:sp>
      <p:sp>
        <p:nvSpPr>
          <p:cNvPr id="3" name="副标题 2"/>
          <p:cNvSpPr>
            <a:spLocks noGrp="1"/>
          </p:cNvSpPr>
          <p:nvPr>
            <p:ph type="subTitle" idx="1"/>
            <p:custDataLst>
              <p:tags r:id="rId2"/>
            </p:custDataLst>
          </p:nvPr>
        </p:nvSpPr>
        <p:spPr/>
        <p:txBody>
          <a:bodyPr/>
          <a:p>
            <a:r>
              <a:rPr lang="en-US" altLang="zh-CN"/>
              <a:t>2025</a:t>
            </a:r>
            <a:r>
              <a:rPr lang="zh-CN" altLang="en-US"/>
              <a:t>年</a:t>
            </a:r>
            <a:r>
              <a:rPr lang="en-US" altLang="zh-CN"/>
              <a:t>10</a:t>
            </a:r>
            <a:r>
              <a:rPr lang="zh-CN" altLang="en-US"/>
              <a:t>月</a:t>
            </a:r>
            <a:r>
              <a:rPr lang="en-US" altLang="zh-CN"/>
              <a:t>28</a:t>
            </a:r>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271215"/>
            <a:ext cx="10969200" cy="705600"/>
          </a:xfrm>
        </p:spPr>
        <p:txBody>
          <a:bodyPr/>
          <a:p>
            <a:r>
              <a:rPr lang="en-US" altLang="zh-CN">
                <a:latin typeface="Times New Roman" panose="02020503050405090304" charset="0"/>
                <a:cs typeface="Times New Roman" panose="02020503050405090304" charset="0"/>
              </a:rPr>
              <a:t>Chapter 1</a:t>
            </a:r>
            <a:endParaRPr lang="en-US" altLang="zh-CN">
              <a:latin typeface="Times New Roman" panose="02020503050405090304" charset="0"/>
              <a:cs typeface="Times New Roman" panose="02020503050405090304" charset="0"/>
            </a:endParaRPr>
          </a:p>
        </p:txBody>
      </p:sp>
      <p:sp>
        <p:nvSpPr>
          <p:cNvPr id="3" name="内容占位符 2"/>
          <p:cNvSpPr>
            <a:spLocks noGrp="1"/>
          </p:cNvSpPr>
          <p:nvPr>
            <p:ph idx="1"/>
            <p:custDataLst>
              <p:tags r:id="rId2"/>
            </p:custDataLst>
          </p:nvPr>
        </p:nvSpPr>
        <p:spPr>
          <a:xfrm>
            <a:off x="608400" y="976685"/>
            <a:ext cx="10969200" cy="4759200"/>
          </a:xfrm>
        </p:spPr>
        <p:txBody>
          <a:bodyPr/>
          <a:p>
            <a:pPr algn="l"/>
            <a:r>
              <a:rPr lang="en-US" altLang="zh-CN">
                <a:latin typeface="Times New Roman" panose="02020503050405090304" charset="0"/>
                <a:cs typeface="Times New Roman" panose="02020503050405090304" charset="0"/>
              </a:rPr>
              <a:t>2. In Section 1.4, nine different types of operating systems are described. Give a list of applications for each of these systems (one per operating systems type).</a:t>
            </a:r>
            <a:endParaRPr lang="en-US" altLang="zh-CN">
              <a:latin typeface="Times New Roman" panose="02020503050405090304" charset="0"/>
              <a:cs typeface="Times New Roman" panose="02020503050405090304" charset="0"/>
            </a:endParaRPr>
          </a:p>
        </p:txBody>
      </p:sp>
      <p:pic>
        <p:nvPicPr>
          <p:cNvPr id="4" name="图片 3"/>
          <p:cNvPicPr>
            <a:picLocks noChangeAspect="1"/>
          </p:cNvPicPr>
          <p:nvPr/>
        </p:nvPicPr>
        <p:blipFill>
          <a:blip r:embed="rId3"/>
          <a:stretch>
            <a:fillRect/>
          </a:stretch>
        </p:blipFill>
        <p:spPr>
          <a:xfrm>
            <a:off x="309245" y="2052320"/>
            <a:ext cx="5750560" cy="4279265"/>
          </a:xfrm>
          <a:prstGeom prst="rect">
            <a:avLst/>
          </a:prstGeom>
          <a:ln>
            <a:solidFill>
              <a:schemeClr val="tx1"/>
            </a:solidFill>
          </a:ln>
        </p:spPr>
      </p:pic>
      <p:pic>
        <p:nvPicPr>
          <p:cNvPr id="5" name="图片 4"/>
          <p:cNvPicPr>
            <a:picLocks noChangeAspect="1"/>
          </p:cNvPicPr>
          <p:nvPr/>
        </p:nvPicPr>
        <p:blipFill>
          <a:blip r:embed="rId4"/>
          <a:stretch>
            <a:fillRect/>
          </a:stretch>
        </p:blipFill>
        <p:spPr>
          <a:xfrm>
            <a:off x="6162675" y="2051050"/>
            <a:ext cx="5737718" cy="4280400"/>
          </a:xfrm>
          <a:prstGeom prst="rect">
            <a:avLst/>
          </a:prstGeom>
          <a:ln>
            <a:solidFill>
              <a:schemeClr val="tx1"/>
            </a:solidFill>
          </a:ln>
        </p:spPr>
      </p:pic>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82620"/>
            <a:ext cx="10969200" cy="705600"/>
          </a:xfrm>
        </p:spPr>
        <p:txBody>
          <a:bodyPr/>
          <a:p>
            <a:r>
              <a:rPr lang="en-US" altLang="zh-CN">
                <a:latin typeface="Times New Roman" panose="02020503050405090304" charset="0"/>
                <a:cs typeface="Times New Roman" panose="02020503050405090304" charset="0"/>
              </a:rPr>
              <a:t>Chapter 1</a:t>
            </a:r>
            <a:endParaRPr lang="en-US" altLang="zh-CN">
              <a:latin typeface="Times New Roman" panose="02020503050405090304" charset="0"/>
              <a:cs typeface="Times New Roman" panose="02020503050405090304" charset="0"/>
            </a:endParaRPr>
          </a:p>
        </p:txBody>
      </p:sp>
      <p:sp>
        <p:nvSpPr>
          <p:cNvPr id="3" name="内容占位符 2"/>
          <p:cNvSpPr>
            <a:spLocks noGrp="1"/>
          </p:cNvSpPr>
          <p:nvPr>
            <p:ph idx="1"/>
            <p:custDataLst>
              <p:tags r:id="rId2"/>
            </p:custDataLst>
          </p:nvPr>
        </p:nvSpPr>
        <p:spPr>
          <a:xfrm>
            <a:off x="608400" y="964620"/>
            <a:ext cx="10969200" cy="4759200"/>
          </a:xfrm>
        </p:spPr>
        <p:txBody>
          <a:bodyPr/>
          <a:p>
            <a:pPr algn="l"/>
            <a:r>
              <a:rPr lang="en-US" altLang="zh-CN">
                <a:latin typeface="Times New Roman" panose="02020503050405090304" charset="0"/>
                <a:cs typeface="Times New Roman" panose="02020503050405090304" charset="0"/>
              </a:rPr>
              <a:t>11. A 255-GB disk has 65,536 cylinders with 255 sectors per track and 512 bytes per sector. How many platters and heads does this disk have? Assuming an average cylinder seek time of 11 ms, average rotational delay of 7 msec and reading rate of 100 MB/sec, calculate the average time it will take to read 400 KB from one sector.</a:t>
            </a:r>
            <a:endParaRPr lang="en-US" altLang="zh-CN">
              <a:latin typeface="Times New Roman" panose="02020503050405090304" charset="0"/>
              <a:cs typeface="Times New Roman" panose="02020503050405090304" charset="0"/>
            </a:endParaRPr>
          </a:p>
        </p:txBody>
      </p:sp>
      <p:pic>
        <p:nvPicPr>
          <p:cNvPr id="4" name="图片 3"/>
          <p:cNvPicPr>
            <a:picLocks noChangeAspect="1"/>
          </p:cNvPicPr>
          <p:nvPr/>
        </p:nvPicPr>
        <p:blipFill>
          <a:blip r:embed="rId3"/>
          <a:srcRect t="2453" b="2742"/>
          <a:stretch>
            <a:fillRect/>
          </a:stretch>
        </p:blipFill>
        <p:spPr>
          <a:xfrm>
            <a:off x="175260" y="2778125"/>
            <a:ext cx="5023485" cy="3580765"/>
          </a:xfrm>
          <a:prstGeom prst="rect">
            <a:avLst/>
          </a:prstGeom>
          <a:ln>
            <a:solidFill>
              <a:schemeClr val="tx1"/>
            </a:solidFill>
          </a:ln>
        </p:spPr>
      </p:pic>
      <mc:AlternateContent xmlns:mc="http://schemas.openxmlformats.org/markup-compatibility/2006">
        <mc:Choice xmlns:a14="http://schemas.microsoft.com/office/drawing/2010/main" Requires="a14">
          <p:sp>
            <p:nvSpPr>
              <p:cNvPr id="6" name="文本框 5"/>
              <p:cNvSpPr txBox="1"/>
              <p:nvPr/>
            </p:nvSpPr>
            <p:spPr>
              <a:xfrm>
                <a:off x="5241290" y="2778125"/>
                <a:ext cx="7024370" cy="3423920"/>
              </a:xfrm>
              <a:prstGeom prst="rect">
                <a:avLst/>
              </a:prstGeom>
              <a:noFill/>
            </p:spPr>
            <p:txBody>
              <a:bodyPr wrap="square" rtlCol="0">
                <a:spAutoFit/>
              </a:bodyPr>
              <a:p>
                <a:pPr>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ea typeface="宋体" charset="0"/>
                          <a:cs typeface="DejaVu Math TeX Gyre" panose="02000503000000000000" charset="0"/>
                        </a:rPr>
                        <m:t>512</m:t>
                      </m:r>
                      <m:r>
                        <a:rPr lang="en-US" altLang="zh-CN" i="1">
                          <a:latin typeface="DejaVu Math TeX Gyre" panose="02000503000000000000" charset="0"/>
                          <a:ea typeface="宋体" charset="0"/>
                          <a:cs typeface="DejaVu Math TeX Gyre" panose="02000503000000000000" charset="0"/>
                        </a:rPr>
                        <m:t> </m:t>
                      </m:r>
                      <m:r>
                        <a:rPr lang="en-US" altLang="zh-CN" i="1">
                          <a:latin typeface="DejaVu Math TeX Gyre" panose="02000503000000000000" charset="0"/>
                          <a:ea typeface="宋体" charset="0"/>
                          <a:cs typeface="DejaVu Math TeX Gyre" panose="02000503000000000000" charset="0"/>
                        </a:rPr>
                        <m:t>𝑏𝑦𝑡𝑒𝑠</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0</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5</m:t>
                      </m:r>
                      <m:r>
                        <a:rPr lang="en-US" altLang="zh-CN" i="1">
                          <a:latin typeface="DejaVu Math TeX Gyre" panose="02000503000000000000" charset="0"/>
                          <a:ea typeface="宋体" charset="0"/>
                          <a:cs typeface="DejaVu Math TeX Gyre" panose="02000503000000000000" charset="0"/>
                        </a:rPr>
                        <m:t>𝐾𝐵</m:t>
                      </m:r>
                    </m:oMath>
                  </m:oMathPara>
                </a14:m>
                <a:endParaRPr lang="en-US" altLang="zh-CN" i="1">
                  <a:latin typeface="DejaVu Math TeX Gyre" panose="02000503000000000000" charset="0"/>
                  <a:cs typeface="DejaVu Math TeX Gyre" panose="02000503000000000000" charset="0"/>
                </a:endParaRPr>
              </a:p>
              <a:p>
                <a:pPr>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cs typeface="DejaVu Math TeX Gyre" panose="02000503000000000000" charset="0"/>
                        </a:rPr>
                        <m:t>65536</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ℎ𝑒𝑎𝑑𝑠</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cs typeface="DejaVu Math TeX Gyre" panose="02000503000000000000" charset="0"/>
                        </a:rPr>
                        <m:t>255</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0</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5</m:t>
                      </m:r>
                      <m:r>
                        <a:rPr lang="en-US" altLang="zh-CN" i="1">
                          <a:latin typeface="DejaVu Math TeX Gyre" panose="02000503000000000000" charset="0"/>
                          <a:ea typeface="宋体" charset="0"/>
                          <a:cs typeface="DejaVu Math TeX Gyre" panose="02000503000000000000" charset="0"/>
                        </a:rPr>
                        <m:t>𝐾𝐵</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255</m:t>
                      </m:r>
                      <m:r>
                        <a:rPr lang="en-US" altLang="zh-CN" i="1">
                          <a:latin typeface="DejaVu Math TeX Gyre" panose="02000503000000000000" charset="0"/>
                          <a:ea typeface="宋体" charset="0"/>
                          <a:cs typeface="DejaVu Math TeX Gyre" panose="02000503000000000000" charset="0"/>
                        </a:rPr>
                        <m:t>𝐺𝐵</m:t>
                      </m:r>
                    </m:oMath>
                  </m:oMathPara>
                </a14:m>
                <a:endParaRPr lang="en-US" altLang="zh-CN" i="1">
                  <a:latin typeface="DejaVu Math TeX Gyre" panose="02000503000000000000" charset="0"/>
                  <a:ea typeface="宋体" charset="0"/>
                  <a:cs typeface="DejaVu Math TeX Gyre" panose="02000503000000000000" charset="0"/>
                </a:endParaRPr>
              </a:p>
              <a:p>
                <a:pPr>
                  <a:lnSpc>
                    <a:spcPct val="150000"/>
                  </a:lnSpc>
                </a:pPr>
                <a:endParaRPr lang="en-US" altLang="zh-CN" i="1">
                  <a:latin typeface="DejaVu Math TeX Gyre" panose="02000503000000000000" charset="0"/>
                  <a:ea typeface="宋体" charset="0"/>
                  <a:cs typeface="DejaVu Math TeX Gyre" panose="02000503000000000000" charset="0"/>
                </a:endParaRPr>
              </a:p>
              <a:p>
                <a:pPr>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ea typeface="宋体" charset="0"/>
                          <a:cs typeface="DejaVu Math TeX Gyre" panose="02000503000000000000" charset="0"/>
                        </a:rPr>
                        <m:t>ℎ𝑒𝑎𝑑𝑠</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32</m:t>
                      </m:r>
                    </m:oMath>
                  </m:oMathPara>
                </a14:m>
                <a:endParaRPr lang="en-US" altLang="zh-CN" i="1">
                  <a:latin typeface="DejaVu Math TeX Gyre" panose="02000503000000000000" charset="0"/>
                  <a:ea typeface="宋体" charset="0"/>
                  <a:cs typeface="DejaVu Math TeX Gyre" panose="02000503000000000000" charset="0"/>
                </a:endParaRPr>
              </a:p>
              <a:p>
                <a:pPr>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ea typeface="宋体" charset="0"/>
                          <a:cs typeface="DejaVu Math TeX Gyre" panose="02000503000000000000" charset="0"/>
                        </a:rPr>
                        <m:t>𝑝𝑙𝑎𝑡𝑡𝑒𝑟𝑠</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ℎ𝑒𝑎𝑑𝑠</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2</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16</m:t>
                      </m:r>
                    </m:oMath>
                  </m:oMathPara>
                </a14:m>
                <a:endParaRPr lang="en-US" altLang="zh-CN" i="1">
                  <a:latin typeface="DejaVu Math TeX Gyre" panose="02000503000000000000" charset="0"/>
                  <a:ea typeface="宋体" charset="0"/>
                  <a:cs typeface="DejaVu Math TeX Gyre" panose="02000503000000000000" charset="0"/>
                </a:endParaRPr>
              </a:p>
              <a:p>
                <a:pPr>
                  <a:lnSpc>
                    <a:spcPct val="150000"/>
                  </a:lnSpc>
                </a:pPr>
                <a:endParaRPr lang="en-US" altLang="zh-CN" i="1">
                  <a:latin typeface="DejaVu Math TeX Gyre" panose="02000503000000000000" charset="0"/>
                  <a:ea typeface="宋体" charset="0"/>
                  <a:cs typeface="DejaVu Math TeX Gyre" panose="02000503000000000000" charset="0"/>
                </a:endParaRPr>
              </a:p>
              <a:p>
                <a:pPr>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ea typeface="宋体" charset="0"/>
                          <a:cs typeface="DejaVu Math TeX Gyre" panose="02000503000000000000" charset="0"/>
                        </a:rPr>
                        <m:t>𝑎𝑣𝑒𝑟𝑎𝑔𝑒</m:t>
                      </m:r>
                      <m:r>
                        <a:rPr lang="en-US" altLang="zh-CN" i="1">
                          <a:latin typeface="DejaVu Math TeX Gyre" panose="02000503000000000000" charset="0"/>
                          <a:ea typeface="宋体" charset="0"/>
                          <a:cs typeface="DejaVu Math TeX Gyre" panose="02000503000000000000" charset="0"/>
                        </a:rPr>
                        <m:t> </m:t>
                      </m:r>
                      <m:r>
                        <a:rPr lang="en-US" altLang="zh-CN" i="1">
                          <a:latin typeface="DejaVu Math TeX Gyre" panose="02000503000000000000" charset="0"/>
                          <a:ea typeface="宋体" charset="0"/>
                          <a:cs typeface="DejaVu Math TeX Gyre" panose="02000503000000000000" charset="0"/>
                        </a:rPr>
                        <m:t>𝑡𝑖𝑚𝑒</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𝑠𝑒𝑒𝑘</m:t>
                      </m:r>
                      <m:r>
                        <a:rPr lang="en-US" altLang="zh-CN" i="1">
                          <a:latin typeface="DejaVu Math TeX Gyre" panose="02000503000000000000" charset="0"/>
                          <a:ea typeface="宋体" charset="0"/>
                          <a:cs typeface="DejaVu Math TeX Gyre" panose="02000503000000000000" charset="0"/>
                        </a:rPr>
                        <m:t> </m:t>
                      </m:r>
                      <m:r>
                        <a:rPr lang="en-US" altLang="zh-CN" i="1">
                          <a:latin typeface="DejaVu Math TeX Gyre" panose="02000503000000000000" charset="0"/>
                          <a:ea typeface="宋体" charset="0"/>
                          <a:cs typeface="DejaVu Math TeX Gyre" panose="02000503000000000000" charset="0"/>
                        </a:rPr>
                        <m:t>𝑡𝑖𝑚𝑒</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𝑟𝑜𝑡𝑎𝑡𝑖𝑜𝑛𝑎𝑙</m:t>
                      </m:r>
                      <m:r>
                        <a:rPr lang="en-US" altLang="zh-CN" i="1">
                          <a:latin typeface="DejaVu Math TeX Gyre" panose="02000503000000000000" charset="0"/>
                          <a:ea typeface="宋体" charset="0"/>
                          <a:cs typeface="DejaVu Math TeX Gyre" panose="02000503000000000000" charset="0"/>
                        </a:rPr>
                        <m:t> </m:t>
                      </m:r>
                      <m:r>
                        <a:rPr lang="en-US" altLang="zh-CN" i="1">
                          <a:latin typeface="DejaVu Math TeX Gyre" panose="02000503000000000000" charset="0"/>
                          <a:ea typeface="宋体" charset="0"/>
                          <a:cs typeface="DejaVu Math TeX Gyre" panose="02000503000000000000" charset="0"/>
                        </a:rPr>
                        <m:t>𝑑𝑒𝑙𝑎𝑦</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𝑟𝑒𝑎𝑑𝑖𝑛𝑔</m:t>
                      </m:r>
                      <m:r>
                        <a:rPr lang="en-US" altLang="zh-CN" i="1">
                          <a:latin typeface="DejaVu Math TeX Gyre" panose="02000503000000000000" charset="0"/>
                          <a:ea typeface="宋体" charset="0"/>
                          <a:cs typeface="DejaVu Math TeX Gyre" panose="02000503000000000000" charset="0"/>
                        </a:rPr>
                        <m:t> </m:t>
                      </m:r>
                      <m:r>
                        <a:rPr lang="en-US" altLang="zh-CN" i="1">
                          <a:latin typeface="DejaVu Math TeX Gyre" panose="02000503000000000000" charset="0"/>
                          <a:ea typeface="宋体" charset="0"/>
                          <a:cs typeface="DejaVu Math TeX Gyre" panose="02000503000000000000" charset="0"/>
                        </a:rPr>
                        <m:t>𝑡𝑖𝑚𝑒</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11</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7</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400</m:t>
                      </m:r>
                      <m:r>
                        <a:rPr lang="en-US" altLang="zh-CN" i="1">
                          <a:latin typeface="DejaVu Math TeX Gyre" panose="02000503000000000000" charset="0"/>
                          <a:ea typeface="宋体" charset="0"/>
                          <a:cs typeface="DejaVu Math TeX Gyre" panose="02000503000000000000" charset="0"/>
                        </a:rPr>
                        <m:t>𝐾𝐵</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100</m:t>
                      </m:r>
                      <m:r>
                        <a:rPr lang="en-US" altLang="zh-CN" i="1">
                          <a:latin typeface="DejaVu Math TeX Gyre" panose="02000503000000000000" charset="0"/>
                          <a:ea typeface="宋体" charset="0"/>
                          <a:cs typeface="DejaVu Math TeX Gyre" panose="02000503000000000000" charset="0"/>
                        </a:rPr>
                        <m:t>𝑀𝐵</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𝑠</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22</m:t>
                      </m:r>
                      <m:r>
                        <a:rPr lang="en-US" altLang="zh-CN" i="1">
                          <a:latin typeface="DejaVu Math TeX Gyre" panose="02000503000000000000" charset="0"/>
                          <a:ea typeface="宋体" charset="0"/>
                          <a:cs typeface="DejaVu Math TeX Gyre" panose="02000503000000000000" charset="0"/>
                        </a:rPr>
                        <m:t>𝑚𝑠</m:t>
                      </m:r>
                    </m:oMath>
                  </m:oMathPara>
                </a14:m>
                <a:endParaRPr lang="en-US" altLang="zh-CN" i="1">
                  <a:latin typeface="DejaVu Math TeX Gyre" panose="02000503000000000000" charset="0"/>
                  <a:ea typeface="宋体" charset="0"/>
                  <a:cs typeface="DejaVu Math TeX Gyre" panose="02000503000000000000"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5241290" y="2778125"/>
                <a:ext cx="7024370" cy="3423920"/>
              </a:xfrm>
              <a:prstGeom prst="rect">
                <a:avLst/>
              </a:prstGeom>
              <a:blipFill rotWithShape="1">
                <a:blip r:embed="rId4"/>
                <a:stretch>
                  <a:fillRect b="-9885"/>
                </a:stretch>
              </a:blipFill>
            </p:spPr>
            <p:txBody>
              <a:bodyPr/>
              <a:lstStyle/>
              <a:p>
                <a:r>
                  <a:rPr lang="zh-CN" altLang="en-US">
                    <a:noFill/>
                  </a:rPr>
                  <a:t> </a:t>
                </a:r>
              </a:p>
            </p:txBody>
          </p:sp>
        </mc:Fallback>
      </mc:AlternateContent>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198190"/>
            <a:ext cx="10969200" cy="705600"/>
          </a:xfrm>
        </p:spPr>
        <p:txBody>
          <a:bodyPr/>
          <a:p>
            <a:r>
              <a:rPr lang="en-US" altLang="zh-CN">
                <a:latin typeface="Times New Roman" panose="02020503050405090304" charset="0"/>
                <a:cs typeface="Times New Roman" panose="02020503050405090304" charset="0"/>
              </a:rPr>
              <a:t>Chapter 1</a:t>
            </a:r>
            <a:endParaRPr lang="en-US" altLang="zh-CN">
              <a:latin typeface="Times New Roman" panose="02020503050405090304" charset="0"/>
              <a:cs typeface="Times New Roman" panose="02020503050405090304" charset="0"/>
            </a:endParaRPr>
          </a:p>
        </p:txBody>
      </p:sp>
      <p:sp>
        <p:nvSpPr>
          <p:cNvPr id="3" name="内容占位符 2"/>
          <p:cNvSpPr>
            <a:spLocks noGrp="1"/>
          </p:cNvSpPr>
          <p:nvPr>
            <p:ph idx="1"/>
            <p:custDataLst>
              <p:tags r:id="rId2"/>
            </p:custDataLst>
          </p:nvPr>
        </p:nvSpPr>
        <p:spPr>
          <a:xfrm>
            <a:off x="608400" y="887150"/>
            <a:ext cx="10969200" cy="4759200"/>
          </a:xfrm>
        </p:spPr>
        <p:txBody>
          <a:bodyPr/>
          <a:p>
            <a:r>
              <a:rPr lang="en-US" altLang="zh-CN">
                <a:latin typeface="Times New Roman" panose="02020503050405090304" charset="0"/>
                <a:cs typeface="Times New Roman" panose="02020503050405090304" charset="0"/>
              </a:rPr>
              <a:t>15. Consider a computer system that has cache memory, main memory (RAM) and disk, and an operating system that uses virtual memory. It takes 1 nsec to access a word from the cache, 10 nsec to access a word from the RAM, and 10 ms to access a word from the disk. If the cache hit rate is 95% and main memory hit rate (after a cache miss) is 99%, what is the average time to access a word?</a:t>
            </a:r>
            <a:endParaRPr lang="en-US" altLang="zh-CN">
              <a:latin typeface="Times New Roman" panose="02020503050405090304" charset="0"/>
              <a:cs typeface="Times New Roman" panose="02020503050405090304" charset="0"/>
            </a:endParaRPr>
          </a:p>
        </p:txBody>
      </p:sp>
      <p:sp>
        <p:nvSpPr>
          <p:cNvPr id="5" name="文本框 4"/>
          <p:cNvSpPr txBox="1"/>
          <p:nvPr/>
        </p:nvSpPr>
        <p:spPr>
          <a:xfrm>
            <a:off x="4913630" y="3575685"/>
            <a:ext cx="8352155" cy="2584450"/>
          </a:xfrm>
          <a:prstGeom prst="rect">
            <a:avLst/>
          </a:prstGeom>
          <a:noFill/>
        </p:spPr>
        <p:txBody>
          <a:bodyPr wrap="square" rtlCol="0">
            <a:spAutoFit/>
          </a:bodyPr>
          <a:p>
            <a:pPr>
              <a:lnSpc>
                <a:spcPct val="150000"/>
              </a:lnSpc>
            </a:pPr>
            <a:r>
              <a:rPr lang="en-US" altLang="zh-CN"/>
              <a:t>Average access time =</a:t>
            </a:r>
            <a:endParaRPr lang="en-US" altLang="zh-CN"/>
          </a:p>
          <a:p>
            <a:pPr indent="457200">
              <a:lnSpc>
                <a:spcPct val="150000"/>
              </a:lnSpc>
            </a:pPr>
            <a:r>
              <a:rPr lang="en-US" altLang="zh-CN"/>
              <a:t>0.95 </a:t>
            </a:r>
            <a:r>
              <a:rPr lang="en-US" altLang="en-US"/>
              <a:t>×</a:t>
            </a:r>
            <a:r>
              <a:rPr lang="en-US" altLang="zh-CN"/>
              <a:t> 1 nsec (word is in the cache)</a:t>
            </a:r>
            <a:endParaRPr lang="en-US" altLang="zh-CN"/>
          </a:p>
          <a:p>
            <a:pPr indent="457200">
              <a:lnSpc>
                <a:spcPct val="150000"/>
              </a:lnSpc>
            </a:pPr>
            <a:r>
              <a:rPr lang="en-US" altLang="zh-CN"/>
              <a:t>+ 0.05 </a:t>
            </a:r>
            <a:r>
              <a:rPr lang="en-US" altLang="en-US"/>
              <a:t>×</a:t>
            </a:r>
            <a:r>
              <a:rPr lang="en-US" altLang="zh-CN"/>
              <a:t> 0.99 </a:t>
            </a:r>
            <a:r>
              <a:rPr lang="en-US" altLang="en-US"/>
              <a:t>×</a:t>
            </a:r>
            <a:r>
              <a:rPr lang="en-US" altLang="zh-CN"/>
              <a:t> 10 nsec (word is in RAM, but not in the cache)</a:t>
            </a:r>
            <a:endParaRPr lang="en-US" altLang="zh-CN"/>
          </a:p>
          <a:p>
            <a:pPr indent="457200">
              <a:lnSpc>
                <a:spcPct val="150000"/>
              </a:lnSpc>
            </a:pPr>
            <a:r>
              <a:rPr lang="en-US" altLang="zh-CN"/>
              <a:t>+ 0.05 </a:t>
            </a:r>
            <a:r>
              <a:rPr lang="en-US" altLang="en-US"/>
              <a:t>×</a:t>
            </a:r>
            <a:r>
              <a:rPr lang="en-US" altLang="zh-CN"/>
              <a:t> 0.01 </a:t>
            </a:r>
            <a:r>
              <a:rPr lang="en-US" altLang="en-US"/>
              <a:t>×</a:t>
            </a:r>
            <a:r>
              <a:rPr lang="en-US" altLang="zh-CN"/>
              <a:t> 10,000,000 nsec (word on disk only)</a:t>
            </a:r>
            <a:endParaRPr lang="en-US" altLang="zh-CN"/>
          </a:p>
          <a:p>
            <a:pPr indent="457200">
              <a:lnSpc>
                <a:spcPct val="150000"/>
              </a:lnSpc>
            </a:pPr>
            <a:r>
              <a:rPr lang="en-US" altLang="zh-CN"/>
              <a:t>= 5001.445 nsec</a:t>
            </a:r>
            <a:endParaRPr lang="en-US" altLang="zh-CN"/>
          </a:p>
          <a:p>
            <a:pPr indent="457200">
              <a:lnSpc>
                <a:spcPct val="150000"/>
              </a:lnSpc>
            </a:pPr>
            <a:r>
              <a:rPr lang="en-US" altLang="zh-CN"/>
              <a:t>= 5.001445 μsec</a:t>
            </a:r>
            <a:endParaRPr lang="en-US" altLang="zh-CN"/>
          </a:p>
        </p:txBody>
      </p:sp>
      <p:pic>
        <p:nvPicPr>
          <p:cNvPr id="6" name="图片 5"/>
          <p:cNvPicPr>
            <a:picLocks noChangeAspect="1"/>
          </p:cNvPicPr>
          <p:nvPr/>
        </p:nvPicPr>
        <p:blipFill>
          <a:blip r:embed="rId3"/>
          <a:stretch>
            <a:fillRect/>
          </a:stretch>
        </p:blipFill>
        <p:spPr>
          <a:xfrm>
            <a:off x="237490" y="2964180"/>
            <a:ext cx="4662170" cy="3487420"/>
          </a:xfrm>
          <a:prstGeom prst="rect">
            <a:avLst/>
          </a:prstGeom>
          <a:ln>
            <a:solidFill>
              <a:schemeClr val="tx1"/>
            </a:solidFill>
          </a:ln>
        </p:spPr>
      </p:pic>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Times New Roman" panose="02020503050405090304" charset="0"/>
                <a:cs typeface="Times New Roman" panose="02020503050405090304" charset="0"/>
              </a:rPr>
              <a:t>Chapter 1</a:t>
            </a:r>
            <a:endParaRPr lang="en-US" altLang="zh-CN">
              <a:latin typeface="Times New Roman" panose="02020503050405090304" charset="0"/>
              <a:cs typeface="Times New Roman" panose="02020503050405090304" charset="0"/>
            </a:endParaRPr>
          </a:p>
        </p:txBody>
      </p:sp>
      <p:sp>
        <p:nvSpPr>
          <p:cNvPr id="3" name="内容占位符 2"/>
          <p:cNvSpPr>
            <a:spLocks noGrp="1"/>
          </p:cNvSpPr>
          <p:nvPr>
            <p:ph idx="1"/>
            <p:custDataLst>
              <p:tags r:id="rId2"/>
            </p:custDataLst>
          </p:nvPr>
        </p:nvSpPr>
        <p:spPr>
          <a:xfrm>
            <a:off x="608330" y="1417955"/>
            <a:ext cx="10968990" cy="1938655"/>
          </a:xfrm>
        </p:spPr>
        <p:txBody>
          <a:bodyPr/>
          <a:p>
            <a:r>
              <a:rPr lang="en-US" altLang="zh-CN">
                <a:latin typeface="Times New Roman" panose="02020503050405090304" charset="0"/>
                <a:cs typeface="Times New Roman" panose="02020503050405090304" charset="0"/>
              </a:rPr>
              <a:t>24. Suppose that a 10-MB file is stored on a disk on the same track (track 50) in consecutive sectors. The disk arm is currently situated over track number 100. How long will it take to retrieve this file from the disk? Assume that it takes about 1 ms to move the arm from one cylinder to the next and about 5 ms for the sector where the beginning of the file is stored to rotate under the head. Also, assume that reading occurs at a rate of 200 MB/s.</a:t>
            </a:r>
            <a:endParaRPr lang="en-US" altLang="zh-CN">
              <a:latin typeface="Times New Roman" panose="02020503050405090304" charset="0"/>
              <a:cs typeface="Times New Roman" panose="02020503050405090304" charset="0"/>
            </a:endParaRPr>
          </a:p>
        </p:txBody>
      </p:sp>
      <p:sp>
        <p:nvSpPr>
          <p:cNvPr id="5" name="文本框 4"/>
          <p:cNvSpPr txBox="1"/>
          <p:nvPr/>
        </p:nvSpPr>
        <p:spPr>
          <a:xfrm>
            <a:off x="5048250" y="3810635"/>
            <a:ext cx="8661400" cy="2168525"/>
          </a:xfrm>
          <a:prstGeom prst="rect">
            <a:avLst/>
          </a:prstGeom>
          <a:noFill/>
        </p:spPr>
        <p:txBody>
          <a:bodyPr wrap="square" rtlCol="0">
            <a:spAutoFit/>
          </a:bodyPr>
          <a:p>
            <a:pPr>
              <a:lnSpc>
                <a:spcPct val="150000"/>
              </a:lnSpc>
            </a:pPr>
            <a:r>
              <a:rPr lang="en-US" altLang="zh-CN"/>
              <a:t>Time to retrieve the file =</a:t>
            </a:r>
            <a:endParaRPr lang="en-US" altLang="zh-CN"/>
          </a:p>
          <a:p>
            <a:pPr indent="457200">
              <a:lnSpc>
                <a:spcPct val="150000"/>
              </a:lnSpc>
            </a:pPr>
            <a:r>
              <a:rPr lang="en-US" altLang="zh-CN"/>
              <a:t>1 * 50 ms (Time to move the arm over track 50)</a:t>
            </a:r>
            <a:endParaRPr lang="en-US" altLang="zh-CN"/>
          </a:p>
          <a:p>
            <a:pPr indent="457200">
              <a:lnSpc>
                <a:spcPct val="150000"/>
              </a:lnSpc>
            </a:pPr>
            <a:r>
              <a:rPr lang="en-US" altLang="zh-CN"/>
              <a:t>+ 5 ms (Time for the first sector to rotate under the head)</a:t>
            </a:r>
            <a:endParaRPr lang="en-US" altLang="zh-CN"/>
          </a:p>
          <a:p>
            <a:pPr indent="457200">
              <a:lnSpc>
                <a:spcPct val="150000"/>
              </a:lnSpc>
            </a:pPr>
            <a:r>
              <a:rPr lang="en-US" altLang="zh-CN"/>
              <a:t>+ 10/200 * 1000 ms (Read 10 MB)</a:t>
            </a:r>
            <a:endParaRPr lang="en-US" altLang="zh-CN"/>
          </a:p>
          <a:p>
            <a:pPr indent="457200">
              <a:lnSpc>
                <a:spcPct val="150000"/>
              </a:lnSpc>
            </a:pPr>
            <a:r>
              <a:rPr lang="en-US" altLang="zh-CN"/>
              <a:t>= 105 ms</a:t>
            </a:r>
            <a:endParaRPr lang="en-US" altLang="zh-CN"/>
          </a:p>
        </p:txBody>
      </p:sp>
      <p:pic>
        <p:nvPicPr>
          <p:cNvPr id="4" name="图片 3"/>
          <p:cNvPicPr>
            <a:picLocks noChangeAspect="1"/>
          </p:cNvPicPr>
          <p:nvPr/>
        </p:nvPicPr>
        <p:blipFill>
          <a:blip r:embed="rId3"/>
          <a:srcRect t="2453" b="2742"/>
          <a:stretch>
            <a:fillRect/>
          </a:stretch>
        </p:blipFill>
        <p:spPr>
          <a:xfrm>
            <a:off x="756920" y="3509645"/>
            <a:ext cx="4206240" cy="2998470"/>
          </a:xfrm>
          <a:prstGeom prst="rect">
            <a:avLst/>
          </a:prstGeom>
          <a:ln>
            <a:solidFill>
              <a:schemeClr val="tx1"/>
            </a:solidFill>
          </a:ln>
        </p:spPr>
      </p:pic>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Times New Roman" panose="02020503050405090304" charset="0"/>
                <a:cs typeface="Times New Roman" panose="02020503050405090304" charset="0"/>
              </a:rPr>
              <a:t>Chapter 2</a:t>
            </a:r>
            <a:endParaRPr lang="en-US" altLang="zh-CN">
              <a:latin typeface="Times New Roman" panose="02020503050405090304" charset="0"/>
              <a:cs typeface="Times New Roman" panose="02020503050405090304" charset="0"/>
            </a:endParaRPr>
          </a:p>
        </p:txBody>
      </p:sp>
      <p:sp>
        <p:nvSpPr>
          <p:cNvPr id="3" name="内容占位符 2"/>
          <p:cNvSpPr>
            <a:spLocks noGrp="1"/>
          </p:cNvSpPr>
          <p:nvPr>
            <p:ph idx="1"/>
            <p:custDataLst>
              <p:tags r:id="rId2"/>
            </p:custDataLst>
          </p:nvPr>
        </p:nvSpPr>
        <p:spPr>
          <a:xfrm>
            <a:off x="608330" y="1490345"/>
            <a:ext cx="10968990" cy="1198880"/>
          </a:xfrm>
        </p:spPr>
        <p:txBody>
          <a:bodyPr/>
          <a:p>
            <a:r>
              <a:rPr lang="en-US" altLang="zh-CN">
                <a:latin typeface="Times New Roman" panose="02020503050405090304" charset="0"/>
                <a:cs typeface="Times New Roman" panose="02020503050405090304" charset="0"/>
              </a:rPr>
              <a:t>1. In Fig. 2-2, three process states are shown. In theory, with three states, there could be six transitions, two out of each state. However, only four transitions are shown. Are there any circumstances in which either or both of the missing transitions might occur?</a:t>
            </a:r>
            <a:endParaRPr lang="en-US" altLang="zh-CN">
              <a:latin typeface="Times New Roman" panose="02020503050405090304" charset="0"/>
              <a:cs typeface="Times New Roman" panose="02020503050405090304" charset="0"/>
            </a:endParaRPr>
          </a:p>
        </p:txBody>
      </p:sp>
      <p:pic>
        <p:nvPicPr>
          <p:cNvPr id="4" name="图片 3"/>
          <p:cNvPicPr>
            <a:picLocks noChangeAspect="1"/>
          </p:cNvPicPr>
          <p:nvPr/>
        </p:nvPicPr>
        <p:blipFill>
          <a:blip r:embed="rId3"/>
          <a:srcRect r="3611"/>
          <a:stretch>
            <a:fillRect/>
          </a:stretch>
        </p:blipFill>
        <p:spPr>
          <a:xfrm>
            <a:off x="207645" y="2689225"/>
            <a:ext cx="5203825" cy="1851660"/>
          </a:xfrm>
          <a:prstGeom prst="rect">
            <a:avLst/>
          </a:prstGeom>
          <a:ln>
            <a:solidFill>
              <a:schemeClr val="tx1"/>
            </a:solidFill>
          </a:ln>
        </p:spPr>
      </p:pic>
      <p:sp>
        <p:nvSpPr>
          <p:cNvPr id="5" name="文本框 4"/>
          <p:cNvSpPr txBox="1"/>
          <p:nvPr/>
        </p:nvSpPr>
        <p:spPr>
          <a:xfrm>
            <a:off x="5499100" y="2865755"/>
            <a:ext cx="6579870" cy="2999740"/>
          </a:xfrm>
          <a:prstGeom prst="rect">
            <a:avLst/>
          </a:prstGeom>
          <a:noFill/>
        </p:spPr>
        <p:txBody>
          <a:bodyPr wrap="square" rtlCol="0">
            <a:spAutoFit/>
          </a:bodyPr>
          <a:p>
            <a:pPr>
              <a:lnSpc>
                <a:spcPct val="150000"/>
              </a:lnSpc>
            </a:pPr>
            <a:r>
              <a:rPr lang="en-US" altLang="zh-CN" b="1">
                <a:latin typeface="Times New Roman" panose="02020503050405090304" charset="0"/>
                <a:cs typeface="Times New Roman" panose="02020503050405090304" charset="0"/>
              </a:rPr>
              <a:t>The transition from blocked to running is conceivable. </a:t>
            </a:r>
            <a:endParaRPr lang="en-US" altLang="zh-CN" b="1">
              <a:latin typeface="Times New Roman" panose="02020503050405090304" charset="0"/>
              <a:cs typeface="Times New Roman" panose="02020503050405090304" charset="0"/>
            </a:endParaRPr>
          </a:p>
          <a:p>
            <a:pPr>
              <a:lnSpc>
                <a:spcPct val="150000"/>
              </a:lnSpc>
            </a:pPr>
            <a:r>
              <a:rPr lang="en-US" altLang="zh-CN">
                <a:latin typeface="Times New Roman" panose="02020503050405090304" charset="0"/>
                <a:cs typeface="Times New Roman" panose="02020503050405090304" charset="0"/>
              </a:rPr>
              <a:t>Suppose that a process is blocked on I/O and the I/O finishes. If the CPU is otherwise idle, the process could go directly from blocked to running. </a:t>
            </a:r>
            <a:endParaRPr lang="en-US" altLang="zh-CN">
              <a:latin typeface="Times New Roman" panose="02020503050405090304" charset="0"/>
              <a:cs typeface="Times New Roman" panose="02020503050405090304" charset="0"/>
            </a:endParaRPr>
          </a:p>
          <a:p>
            <a:pPr>
              <a:lnSpc>
                <a:spcPct val="150000"/>
              </a:lnSpc>
            </a:pPr>
            <a:r>
              <a:rPr lang="en-US" altLang="zh-CN" b="1">
                <a:latin typeface="Times New Roman" panose="02020503050405090304" charset="0"/>
                <a:cs typeface="Times New Roman" panose="02020503050405090304" charset="0"/>
              </a:rPr>
              <a:t>The other missing transition, from ready to blocked, is impossible. </a:t>
            </a:r>
            <a:endParaRPr lang="en-US" altLang="zh-CN" b="1">
              <a:latin typeface="Times New Roman" panose="02020503050405090304" charset="0"/>
              <a:cs typeface="Times New Roman" panose="02020503050405090304" charset="0"/>
            </a:endParaRPr>
          </a:p>
          <a:p>
            <a:pPr>
              <a:lnSpc>
                <a:spcPct val="150000"/>
              </a:lnSpc>
            </a:pPr>
            <a:r>
              <a:rPr lang="en-US" altLang="zh-CN">
                <a:latin typeface="Times New Roman" panose="02020503050405090304" charset="0"/>
                <a:cs typeface="Times New Roman" panose="02020503050405090304" charset="0"/>
              </a:rPr>
              <a:t>A ready process cannot do I/O or any thing else that might block it. Only a running process can block.</a:t>
            </a:r>
            <a:endParaRPr lang="en-US" altLang="zh-CN">
              <a:latin typeface="Times New Roman" panose="02020503050405090304" charset="0"/>
              <a:ea typeface="宋体" charset="0"/>
              <a:cs typeface="Times New Roman" panose="02020503050405090304" charset="0"/>
            </a:endParaRPr>
          </a:p>
        </p:txBody>
      </p:sp>
      <p:pic>
        <p:nvPicPr>
          <p:cNvPr id="6" name="图片 5"/>
          <p:cNvPicPr>
            <a:picLocks noChangeAspect="1"/>
          </p:cNvPicPr>
          <p:nvPr/>
        </p:nvPicPr>
        <p:blipFill>
          <a:blip r:embed="rId4"/>
          <a:stretch>
            <a:fillRect/>
          </a:stretch>
        </p:blipFill>
        <p:spPr>
          <a:xfrm>
            <a:off x="207645" y="4686935"/>
            <a:ext cx="5220970" cy="1660525"/>
          </a:xfrm>
          <a:prstGeom prst="rect">
            <a:avLst/>
          </a:prstGeom>
          <a:ln>
            <a:solidFill>
              <a:schemeClr val="tx1"/>
            </a:solidFill>
          </a:ln>
        </p:spPr>
      </p:pic>
      <p:cxnSp>
        <p:nvCxnSpPr>
          <p:cNvPr id="7" name="直接连接符 6"/>
          <p:cNvCxnSpPr/>
          <p:nvPr/>
        </p:nvCxnSpPr>
        <p:spPr>
          <a:xfrm>
            <a:off x="2538730" y="6141720"/>
            <a:ext cx="2578100" cy="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a:off x="334645" y="6318885"/>
            <a:ext cx="4215130" cy="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2218690" y="6347460"/>
            <a:ext cx="4064000" cy="645160"/>
          </a:xfrm>
          <a:prstGeom prst="rect">
            <a:avLst/>
          </a:prstGeom>
          <a:noFill/>
        </p:spPr>
        <p:txBody>
          <a:bodyPr wrap="square" rtlCol="0">
            <a:spAutoFit/>
          </a:bodyPr>
          <a:p>
            <a:r>
              <a:rPr lang="zh-CN" altLang="en-US">
                <a:latin typeface="Times New Roman" panose="02020503050405090304" charset="0"/>
                <a:ea typeface="宋体" charset="0"/>
                <a:cs typeface="Times New Roman" panose="02020503050405090304" charset="0"/>
                <a:sym typeface="+mn-ea"/>
              </a:rPr>
              <a:t>书</a:t>
            </a:r>
            <a:r>
              <a:rPr lang="en-US" altLang="zh-CN">
                <a:latin typeface="Times New Roman" panose="02020503050405090304" charset="0"/>
                <a:ea typeface="宋体" charset="0"/>
                <a:cs typeface="Times New Roman" panose="02020503050405090304" charset="0"/>
                <a:sym typeface="+mn-ea"/>
              </a:rPr>
              <a:t> P93</a:t>
            </a:r>
            <a:endParaRPr lang="en-US" altLang="zh-CN">
              <a:latin typeface="Times New Roman" panose="02020503050405090304" charset="0"/>
              <a:ea typeface="宋体" charset="0"/>
              <a:cs typeface="Times New Roman" panose="02020503050405090304" charset="0"/>
            </a:endParaRPr>
          </a:p>
          <a:p>
            <a:endParaRPr lang="zh-CN" altLang="en-US"/>
          </a:p>
        </p:txBody>
      </p:sp>
    </p:spTree>
    <p:custDataLst>
      <p:tags r:id="rId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Times New Roman" panose="02020503050405090304" charset="0"/>
                <a:cs typeface="Times New Roman" panose="02020503050405090304" charset="0"/>
              </a:rPr>
              <a:t>Chapter 2</a:t>
            </a:r>
            <a:endParaRPr lang="en-US" altLang="zh-CN">
              <a:latin typeface="Times New Roman" panose="02020503050405090304" charset="0"/>
              <a:cs typeface="Times New Roman" panose="02020503050405090304" charset="0"/>
            </a:endParaRPr>
          </a:p>
        </p:txBody>
      </p:sp>
      <p:sp>
        <p:nvSpPr>
          <p:cNvPr id="3" name="内容占位符 2"/>
          <p:cNvSpPr>
            <a:spLocks noGrp="1"/>
          </p:cNvSpPr>
          <p:nvPr>
            <p:ph idx="1"/>
            <p:custDataLst>
              <p:tags r:id="rId2"/>
            </p:custDataLst>
          </p:nvPr>
        </p:nvSpPr>
        <p:spPr>
          <a:xfrm>
            <a:off x="608330" y="1490345"/>
            <a:ext cx="10968990" cy="930910"/>
          </a:xfrm>
        </p:spPr>
        <p:txBody>
          <a:bodyPr/>
          <a:p>
            <a:r>
              <a:rPr lang="en-US" altLang="zh-CN">
                <a:latin typeface="Times New Roman" panose="02020503050405090304" charset="0"/>
                <a:cs typeface="Times New Roman" panose="02020503050405090304" charset="0"/>
              </a:rPr>
              <a:t>5. A computer system has enough room to hold five programs in its main memory. These programs are idle waiting for I/O half the time. What fraction of the CPU time is wasted?</a:t>
            </a:r>
            <a:endParaRPr lang="en-US" altLang="zh-CN">
              <a:latin typeface="Times New Roman" panose="02020503050405090304" charset="0"/>
              <a:cs typeface="Times New Roman" panose="02020503050405090304" charset="0"/>
            </a:endParaRPr>
          </a:p>
        </p:txBody>
      </p:sp>
      <mc:AlternateContent xmlns:mc="http://schemas.openxmlformats.org/markup-compatibility/2006">
        <mc:Choice xmlns:a14="http://schemas.microsoft.com/office/drawing/2010/main" Requires="a14">
          <p:sp>
            <p:nvSpPr>
              <p:cNvPr id="5" name="文本框 4"/>
              <p:cNvSpPr txBox="1"/>
              <p:nvPr/>
            </p:nvSpPr>
            <p:spPr>
              <a:xfrm>
                <a:off x="2864104" y="4993576"/>
                <a:ext cx="5793105" cy="930910"/>
              </a:xfrm>
              <a:prstGeom prst="rect">
                <a:avLst/>
              </a:prstGeom>
              <a:noFill/>
            </p:spPr>
            <p:txBody>
              <a:bodyPr wrap="none" rtlCol="0" anchor="t">
                <a:spAutoFit/>
              </a:bodyPr>
              <a:p>
                <a:pPr algn="l">
                  <a:lnSpc>
                    <a:spcPct val="150000"/>
                  </a:lnSpc>
                </a:pPr>
                <a14:m>
                  <m:oMathPara xmlns:m="http://schemas.openxmlformats.org/officeDocument/2006/math">
                    <m:oMathParaPr>
                      <m:jc m:val="center"/>
                    </m:oMathParaPr>
                    <m:oMath xmlns:m="http://schemas.openxmlformats.org/officeDocument/2006/math">
                      <m:r>
                        <a:rPr lang="en-US" altLang="zh-CN" i="1">
                          <a:latin typeface="DejaVu Math TeX Gyre" panose="02000503000000000000" charset="0"/>
                          <a:cs typeface="DejaVu Math TeX Gyre" panose="02000503000000000000" charset="0"/>
                        </a:rPr>
                        <m:t>𝐶𝑃𝑈</m:t>
                      </m:r>
                      <m:r>
                        <a:rPr lang="en-US" altLang="zh-CN" i="1">
                          <a:latin typeface="DejaVu Math TeX Gyre" panose="02000503000000000000" charset="0"/>
                          <a:cs typeface="DejaVu Math TeX Gyre" panose="02000503000000000000" charset="0"/>
                        </a:rPr>
                        <m:t> </m:t>
                      </m:r>
                      <m:r>
                        <a:rPr lang="en-US" altLang="zh-CN" i="1">
                          <a:latin typeface="DejaVu Math TeX Gyre" panose="02000503000000000000" charset="0"/>
                          <a:cs typeface="DejaVu Math TeX Gyre" panose="02000503000000000000" charset="0"/>
                        </a:rPr>
                        <m:t>𝑢𝑡𝑖𝑙𝑖𝑧𝑎𝑡𝑖𝑜𝑛</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1</m:t>
                      </m:r>
                      <m:r>
                        <a:rPr lang="en-US" altLang="zh-CN" i="1">
                          <a:latin typeface="DejaVu Math TeX Gyre" panose="02000503000000000000" charset="0"/>
                          <a:cs typeface="DejaVu Math TeX Gyre" panose="02000503000000000000" charset="0"/>
                        </a:rPr>
                        <m:t>−</m:t>
                      </m:r>
                      <m:sSup>
                        <m:sSupPr>
                          <m:ctrlPr>
                            <a:rPr lang="en-US" altLang="zh-CN" i="1">
                              <a:latin typeface="DejaVu Math TeX Gyre" panose="02000503000000000000" charset="0"/>
                              <a:cs typeface="DejaVu Math TeX Gyre" panose="02000503000000000000" charset="0"/>
                            </a:rPr>
                          </m:ctrlPr>
                        </m:sSupPr>
                        <m:e>
                          <m:r>
                            <a:rPr lang="en-US" altLang="zh-CN" i="1">
                              <a:latin typeface="DejaVu Math TeX Gyre" panose="02000503000000000000" charset="0"/>
                              <a:cs typeface="DejaVu Math TeX Gyre" panose="02000503000000000000" charset="0"/>
                            </a:rPr>
                            <m:t>𝑝</m:t>
                          </m:r>
                        </m:e>
                        <m:sup>
                          <m:r>
                            <a:rPr lang="en-US" altLang="zh-CN" i="1">
                              <a:latin typeface="DejaVu Math TeX Gyre" panose="02000503000000000000" charset="0"/>
                              <a:cs typeface="DejaVu Math TeX Gyre" panose="02000503000000000000" charset="0"/>
                            </a:rPr>
                            <m:t>𝑛</m:t>
                          </m:r>
                        </m:sup>
                      </m:sSup>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1</m:t>
                      </m:r>
                      <m:r>
                        <a:rPr lang="en-US" altLang="zh-CN" i="1">
                          <a:latin typeface="DejaVu Math TeX Gyre" panose="02000503000000000000" charset="0"/>
                          <a:cs typeface="DejaVu Math TeX Gyre" panose="02000503000000000000" charset="0"/>
                        </a:rPr>
                        <m:t>−</m:t>
                      </m:r>
                      <m:sSup>
                        <m:sSupPr>
                          <m:ctrlPr>
                            <a:rPr lang="en-US" altLang="zh-CN" i="1">
                              <a:latin typeface="DejaVu Math TeX Gyre" panose="02000503000000000000" charset="0"/>
                              <a:cs typeface="DejaVu Math TeX Gyre" panose="02000503000000000000" charset="0"/>
                            </a:rPr>
                          </m:ctrlPr>
                        </m:sSupPr>
                        <m:e>
                          <m:r>
                            <a:rPr lang="en-US" altLang="zh-CN" i="1">
                              <a:latin typeface="DejaVu Math TeX Gyre" panose="02000503000000000000" charset="0"/>
                              <a:cs typeface="DejaVu Math TeX Gyre" panose="02000503000000000000" charset="0"/>
                            </a:rPr>
                            <m:t>0</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5</m:t>
                          </m:r>
                        </m:e>
                        <m:sup>
                          <m:r>
                            <a:rPr lang="en-US" altLang="zh-CN" i="1">
                              <a:latin typeface="DejaVu Math TeX Gyre" panose="02000503000000000000" charset="0"/>
                              <a:cs typeface="DejaVu Math TeX Gyre" panose="02000503000000000000" charset="0"/>
                            </a:rPr>
                            <m:t>5</m:t>
                          </m:r>
                        </m:sup>
                      </m:sSup>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96</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875</m:t>
                      </m:r>
                      <m:r>
                        <a:rPr lang="en-US" altLang="zh-CN" i="1">
                          <a:latin typeface="DejaVu Math TeX Gyre" panose="02000503000000000000" charset="0"/>
                          <a:cs typeface="DejaVu Math TeX Gyre" panose="02000503000000000000" charset="0"/>
                        </a:rPr>
                        <m:t>%</m:t>
                      </m:r>
                    </m:oMath>
                  </m:oMathPara>
                </a14:m>
                <a:endParaRPr lang="en-US" altLang="zh-CN" i="1">
                  <a:latin typeface="DejaVu Math TeX Gyre" panose="02000503000000000000" charset="0"/>
                  <a:cs typeface="DejaVu Math TeX Gyre" panose="02000503000000000000" charset="0"/>
                </a:endParaRPr>
              </a:p>
              <a:p>
                <a:pPr algn="l">
                  <a:lnSpc>
                    <a:spcPct val="150000"/>
                  </a:lnSpc>
                </a:pPr>
                <a14:m>
                  <m:oMathPara xmlns:m="http://schemas.openxmlformats.org/officeDocument/2006/math">
                    <m:oMathParaPr>
                      <m:jc m:val="center"/>
                    </m:oMathParaPr>
                    <m:oMath xmlns:m="http://schemas.openxmlformats.org/officeDocument/2006/math">
                      <m:r>
                        <a:rPr lang="en-US" altLang="zh-CN" i="1">
                          <a:latin typeface="DejaVu Math TeX Gyre" panose="02000503000000000000" charset="0"/>
                          <a:cs typeface="DejaVu Math TeX Gyre" panose="02000503000000000000" charset="0"/>
                        </a:rPr>
                        <m:t>𝑤𝑎𝑠𝑡𝑒</m:t>
                      </m:r>
                      <m:r>
                        <a:rPr lang="en-US" altLang="zh-CN" i="1">
                          <a:latin typeface="DejaVu Math TeX Gyre" panose="02000503000000000000" charset="0"/>
                          <a:cs typeface="DejaVu Math TeX Gyre" panose="02000503000000000000" charset="0"/>
                        </a:rPr>
                        <m:t> </m:t>
                      </m:r>
                      <m:r>
                        <a:rPr lang="en-US" altLang="zh-CN" i="1">
                          <a:latin typeface="DejaVu Math TeX Gyre" panose="02000503000000000000" charset="0"/>
                          <a:cs typeface="DejaVu Math TeX Gyre" panose="02000503000000000000" charset="0"/>
                        </a:rPr>
                        <m:t>𝐶𝑃𝑈</m:t>
                      </m:r>
                      <m:r>
                        <a:rPr lang="en-US" altLang="zh-CN" i="1">
                          <a:latin typeface="DejaVu Math TeX Gyre" panose="02000503000000000000" charset="0"/>
                          <a:cs typeface="DejaVu Math TeX Gyre" panose="02000503000000000000" charset="0"/>
                        </a:rPr>
                        <m:t>=</m:t>
                      </m:r>
                      <m:sSup>
                        <m:sSupPr>
                          <m:ctrlPr>
                            <a:rPr lang="en-US" altLang="zh-CN" i="1">
                              <a:latin typeface="DejaVu Math TeX Gyre" panose="02000503000000000000" charset="0"/>
                              <a:cs typeface="DejaVu Math TeX Gyre" panose="02000503000000000000" charset="0"/>
                            </a:rPr>
                          </m:ctrlPr>
                        </m:sSupPr>
                        <m:e>
                          <m:r>
                            <a:rPr lang="en-US" altLang="zh-CN" i="1">
                              <a:latin typeface="DejaVu Math TeX Gyre" panose="02000503000000000000" charset="0"/>
                              <a:cs typeface="DejaVu Math TeX Gyre" panose="02000503000000000000" charset="0"/>
                            </a:rPr>
                            <m:t>𝑝</m:t>
                          </m:r>
                        </m:e>
                        <m:sup>
                          <m:r>
                            <a:rPr lang="en-US" altLang="zh-CN" i="1">
                              <a:latin typeface="DejaVu Math TeX Gyre" panose="02000503000000000000" charset="0"/>
                              <a:cs typeface="DejaVu Math TeX Gyre" panose="02000503000000000000" charset="0"/>
                            </a:rPr>
                            <m:t>𝑛</m:t>
                          </m:r>
                        </m:sup>
                      </m:sSup>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3</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125</m:t>
                      </m:r>
                      <m:r>
                        <a:rPr lang="en-US" altLang="zh-CN" i="1">
                          <a:latin typeface="DejaVu Math TeX Gyre" panose="02000503000000000000" charset="0"/>
                          <a:cs typeface="DejaVu Math TeX Gyre" panose="02000503000000000000" charset="0"/>
                        </a:rPr>
                        <m:t>%</m:t>
                      </m:r>
                    </m:oMath>
                  </m:oMathPara>
                </a14:m>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2864104" y="4993576"/>
                <a:ext cx="5793105" cy="930910"/>
              </a:xfrm>
              <a:prstGeom prst="rect">
                <a:avLst/>
              </a:prstGeom>
              <a:blipFill rotWithShape="1">
                <a:blip r:embed="rId3"/>
                <a:stretch>
                  <a:fillRect l="-4" t="-61" r="4" b="61"/>
                </a:stretch>
              </a:blipFill>
            </p:spPr>
            <p:txBody>
              <a:bodyPr/>
              <a:lstStyle/>
              <a:p>
                <a:r>
                  <a:rPr lang="zh-CN" altLang="en-US">
                    <a:noFill/>
                  </a:rPr>
                  <a:t> </a:t>
                </a:r>
              </a:p>
            </p:txBody>
          </p:sp>
        </mc:Fallback>
      </mc:AlternateContent>
      <p:pic>
        <p:nvPicPr>
          <p:cNvPr id="4" name="图片 3"/>
          <p:cNvPicPr>
            <a:picLocks noChangeAspect="1"/>
          </p:cNvPicPr>
          <p:nvPr/>
        </p:nvPicPr>
        <p:blipFill>
          <a:blip r:embed="rId4"/>
          <a:stretch>
            <a:fillRect/>
          </a:stretch>
        </p:blipFill>
        <p:spPr>
          <a:xfrm>
            <a:off x="2301875" y="2664460"/>
            <a:ext cx="6624955" cy="1678940"/>
          </a:xfrm>
          <a:prstGeom prst="rect">
            <a:avLst/>
          </a:prstGeom>
          <a:ln>
            <a:solidFill>
              <a:schemeClr val="tx1"/>
            </a:solidFill>
          </a:ln>
        </p:spPr>
      </p:pic>
      <p:sp>
        <p:nvSpPr>
          <p:cNvPr id="6" name="文本框 5"/>
          <p:cNvSpPr txBox="1"/>
          <p:nvPr/>
        </p:nvSpPr>
        <p:spPr>
          <a:xfrm>
            <a:off x="5069205" y="4435475"/>
            <a:ext cx="4064000" cy="368300"/>
          </a:xfrm>
          <a:prstGeom prst="rect">
            <a:avLst/>
          </a:prstGeom>
          <a:noFill/>
        </p:spPr>
        <p:txBody>
          <a:bodyPr wrap="square" rtlCol="0">
            <a:spAutoFit/>
          </a:bodyPr>
          <a:p>
            <a:r>
              <a:rPr lang="zh-CN" altLang="en-US">
                <a:latin typeface="Times New Roman" panose="02020503050405090304" charset="0"/>
                <a:ea typeface="宋体" charset="0"/>
                <a:cs typeface="Times New Roman" panose="02020503050405090304" charset="0"/>
              </a:rPr>
              <a:t>书</a:t>
            </a:r>
            <a:r>
              <a:rPr lang="en-US" altLang="zh-CN">
                <a:latin typeface="Times New Roman" panose="02020503050405090304" charset="0"/>
                <a:ea typeface="宋体" charset="0"/>
                <a:cs typeface="Times New Roman" panose="02020503050405090304" charset="0"/>
              </a:rPr>
              <a:t> P96</a:t>
            </a:r>
            <a:endParaRPr lang="en-US" altLang="zh-CN">
              <a:latin typeface="Times New Roman" panose="02020503050405090304" charset="0"/>
              <a:ea typeface="宋体" charset="0"/>
              <a:cs typeface="Times New Roman" panose="02020503050405090304" charset="0"/>
            </a:endParaRPr>
          </a:p>
        </p:txBody>
      </p:sp>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Times New Roman" panose="02020503050405090304" charset="0"/>
                <a:cs typeface="Times New Roman" panose="02020503050405090304" charset="0"/>
              </a:rPr>
              <a:t>Chapter 2</a:t>
            </a:r>
            <a:endParaRPr lang="en-US" altLang="zh-CN">
              <a:latin typeface="Times New Roman" panose="02020503050405090304" charset="0"/>
              <a:cs typeface="Times New Roman" panose="02020503050405090304" charset="0"/>
            </a:endParaRPr>
          </a:p>
        </p:txBody>
      </p:sp>
      <p:sp>
        <p:nvSpPr>
          <p:cNvPr id="3" name="内容占位符 2"/>
          <p:cNvSpPr>
            <a:spLocks noGrp="1"/>
          </p:cNvSpPr>
          <p:nvPr>
            <p:ph idx="1"/>
            <p:custDataLst>
              <p:tags r:id="rId2"/>
            </p:custDataLst>
          </p:nvPr>
        </p:nvSpPr>
        <p:spPr/>
        <p:txBody>
          <a:bodyPr/>
          <a:p>
            <a:pPr algn="l"/>
            <a:r>
              <a:rPr lang="en-US" altLang="zh-CN">
                <a:latin typeface="Times New Roman" panose="02020503050405090304" charset="0"/>
                <a:cs typeface="Times New Roman" panose="02020503050405090304" charset="0"/>
              </a:rPr>
              <a:t>6. A computer has 4 GB of RAM of which the operating system occupies 512 MB. The processes are all 256 MB (for simplicity) and have the same characteristics. If the goal is 99% CPU utilization, what is the maximum I/O wait that can be tolerated?</a:t>
            </a:r>
            <a:endParaRPr lang="en-US" altLang="zh-CN">
              <a:latin typeface="Times New Roman" panose="02020503050405090304" charset="0"/>
              <a:cs typeface="Times New Roman" panose="02020503050405090304" charset="0"/>
            </a:endParaRPr>
          </a:p>
        </p:txBody>
      </p:sp>
      <mc:AlternateContent xmlns:mc="http://schemas.openxmlformats.org/markup-compatibility/2006">
        <mc:Choice xmlns:a14="http://schemas.microsoft.com/office/drawing/2010/main" Requires="a14">
          <p:sp>
            <p:nvSpPr>
              <p:cNvPr id="5" name="文本框 4"/>
              <p:cNvSpPr txBox="1"/>
              <p:nvPr/>
            </p:nvSpPr>
            <p:spPr>
              <a:xfrm>
                <a:off x="2658364" y="4902771"/>
                <a:ext cx="6259830" cy="1136650"/>
              </a:xfrm>
              <a:prstGeom prst="rect">
                <a:avLst/>
              </a:prstGeom>
              <a:noFill/>
            </p:spPr>
            <p:txBody>
              <a:bodyPr wrap="none" rtlCol="0" anchor="t">
                <a:spAutoFit/>
              </a:bodyPr>
              <a:p>
                <a:pPr algn="l">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cs typeface="DejaVu Math TeX Gyre" panose="02000503000000000000" charset="0"/>
                        </a:rPr>
                        <m:t>𝐶𝑃𝑈</m:t>
                      </m:r>
                      <m:r>
                        <a:rPr lang="en-US" altLang="zh-CN" i="1">
                          <a:latin typeface="DejaVu Math TeX Gyre" panose="02000503000000000000" charset="0"/>
                          <a:cs typeface="DejaVu Math TeX Gyre" panose="02000503000000000000" charset="0"/>
                        </a:rPr>
                        <m:t> </m:t>
                      </m:r>
                      <m:r>
                        <a:rPr lang="en-US" altLang="zh-CN" i="1">
                          <a:latin typeface="DejaVu Math TeX Gyre" panose="02000503000000000000" charset="0"/>
                          <a:cs typeface="DejaVu Math TeX Gyre" panose="02000503000000000000" charset="0"/>
                        </a:rPr>
                        <m:t>𝑢𝑡𝑖𝑙𝑖𝑧𝑎𝑡𝑖𝑜𝑛</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1</m:t>
                      </m:r>
                      <m:r>
                        <a:rPr lang="en-US" altLang="zh-CN" i="1">
                          <a:latin typeface="DejaVu Math TeX Gyre" panose="02000503000000000000" charset="0"/>
                          <a:cs typeface="DejaVu Math TeX Gyre" panose="02000503000000000000" charset="0"/>
                        </a:rPr>
                        <m:t>−</m:t>
                      </m:r>
                      <m:sSup>
                        <m:sSupPr>
                          <m:ctrlPr>
                            <a:rPr lang="en-US" altLang="zh-CN" i="1">
                              <a:latin typeface="DejaVu Math TeX Gyre" panose="02000503000000000000" charset="0"/>
                              <a:cs typeface="DejaVu Math TeX Gyre" panose="02000503000000000000" charset="0"/>
                            </a:rPr>
                          </m:ctrlPr>
                        </m:sSupPr>
                        <m:e>
                          <m:r>
                            <a:rPr lang="en-US" altLang="zh-CN" i="1">
                              <a:latin typeface="DejaVu Math TeX Gyre" panose="02000503000000000000" charset="0"/>
                              <a:cs typeface="DejaVu Math TeX Gyre" panose="02000503000000000000" charset="0"/>
                            </a:rPr>
                            <m:t>𝑝</m:t>
                          </m:r>
                        </m:e>
                        <m:sup>
                          <m:f>
                            <m:fPr>
                              <m:ctrlPr>
                                <a:rPr lang="en-US" altLang="zh-CN" i="1">
                                  <a:latin typeface="DejaVu Math TeX Gyre" panose="02000503000000000000" charset="0"/>
                                  <a:cs typeface="DejaVu Math TeX Gyre" panose="02000503000000000000" charset="0"/>
                                </a:rPr>
                              </m:ctrlPr>
                            </m:fPr>
                            <m:num>
                              <m:r>
                                <a:rPr lang="en-US" altLang="zh-CN" i="1">
                                  <a:latin typeface="DejaVu Math TeX Gyre" panose="02000503000000000000" charset="0"/>
                                  <a:ea typeface="宋体" charset="0"/>
                                  <a:cs typeface="DejaVu Math TeX Gyre" panose="02000503000000000000" charset="0"/>
                                </a:rPr>
                                <m:t>4</m:t>
                              </m:r>
                              <m:r>
                                <a:rPr lang="en-US" altLang="zh-CN" i="1">
                                  <a:latin typeface="DejaVu Math TeX Gyre" panose="02000503000000000000" charset="0"/>
                                  <a:ea typeface="宋体" charset="0"/>
                                  <a:cs typeface="DejaVu Math TeX Gyre" panose="02000503000000000000" charset="0"/>
                                </a:rPr>
                                <m:t>𝐺𝐵</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512</m:t>
                              </m:r>
                              <m:r>
                                <a:rPr lang="en-US" altLang="zh-CN" i="1">
                                  <a:latin typeface="DejaVu Math TeX Gyre" panose="02000503000000000000" charset="0"/>
                                  <a:ea typeface="宋体" charset="0"/>
                                  <a:cs typeface="DejaVu Math TeX Gyre" panose="02000503000000000000" charset="0"/>
                                </a:rPr>
                                <m:t>𝑀𝐵</m:t>
                              </m:r>
                            </m:num>
                            <m:den>
                              <m:r>
                                <a:rPr lang="en-US" altLang="zh-CN" i="1">
                                  <a:latin typeface="DejaVu Math TeX Gyre" panose="02000503000000000000" charset="0"/>
                                  <a:ea typeface="宋体" charset="0"/>
                                  <a:cs typeface="DejaVu Math TeX Gyre" panose="02000503000000000000" charset="0"/>
                                </a:rPr>
                                <m:t>256</m:t>
                              </m:r>
                              <m:r>
                                <a:rPr lang="en-US" altLang="zh-CN" i="1">
                                  <a:latin typeface="DejaVu Math TeX Gyre" panose="02000503000000000000" charset="0"/>
                                  <a:ea typeface="宋体" charset="0"/>
                                  <a:cs typeface="DejaVu Math TeX Gyre" panose="02000503000000000000" charset="0"/>
                                </a:rPr>
                                <m:t>𝑀𝐵</m:t>
                              </m:r>
                            </m:den>
                          </m:f>
                        </m:sup>
                      </m:sSup>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1</m:t>
                      </m:r>
                      <m:r>
                        <a:rPr lang="en-US" altLang="zh-CN" i="1">
                          <a:latin typeface="DejaVu Math TeX Gyre" panose="02000503000000000000" charset="0"/>
                          <a:cs typeface="DejaVu Math TeX Gyre" panose="02000503000000000000" charset="0"/>
                        </a:rPr>
                        <m:t>−</m:t>
                      </m:r>
                      <m:sSup>
                        <m:sSupPr>
                          <m:ctrlPr>
                            <a:rPr lang="en-US" altLang="zh-CN" i="1">
                              <a:latin typeface="DejaVu Math TeX Gyre" panose="02000503000000000000" charset="0"/>
                              <a:cs typeface="DejaVu Math TeX Gyre" panose="02000503000000000000" charset="0"/>
                            </a:rPr>
                          </m:ctrlPr>
                        </m:sSupPr>
                        <m:e>
                          <m:r>
                            <a:rPr lang="en-US" altLang="zh-CN" i="1">
                              <a:latin typeface="DejaVu Math TeX Gyre" panose="02000503000000000000" charset="0"/>
                              <a:ea typeface="宋体" charset="0"/>
                              <a:cs typeface="DejaVu Math TeX Gyre" panose="02000503000000000000" charset="0"/>
                            </a:rPr>
                            <m:t>𝑝</m:t>
                          </m:r>
                        </m:e>
                        <m:sup>
                          <m:r>
                            <a:rPr lang="en-US" altLang="zh-CN" i="1">
                              <a:latin typeface="DejaVu Math TeX Gyre" panose="02000503000000000000" charset="0"/>
                              <a:cs typeface="DejaVu Math TeX Gyre" panose="02000503000000000000" charset="0"/>
                            </a:rPr>
                            <m:t>14</m:t>
                          </m:r>
                        </m:sup>
                      </m:sSup>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99</m:t>
                      </m:r>
                      <m:r>
                        <a:rPr lang="en-US" altLang="zh-CN" i="1">
                          <a:latin typeface="DejaVu Math TeX Gyre" panose="02000503000000000000" charset="0"/>
                          <a:cs typeface="DejaVu Math TeX Gyre" panose="02000503000000000000" charset="0"/>
                        </a:rPr>
                        <m:t>%</m:t>
                      </m:r>
                    </m:oMath>
                  </m:oMathPara>
                </a14:m>
                <a:endParaRPr lang="en-US" altLang="zh-CN" i="1">
                  <a:latin typeface="DejaVu Math TeX Gyre" panose="02000503000000000000" charset="0"/>
                  <a:cs typeface="DejaVu Math TeX Gyre" panose="02000503000000000000" charset="0"/>
                </a:endParaRPr>
              </a:p>
              <a:p>
                <a:pPr algn="l">
                  <a:lnSpc>
                    <a:spcPct val="150000"/>
                  </a:lnSpc>
                </a:pPr>
                <a14:m>
                  <m:oMathPara xmlns:m="http://schemas.openxmlformats.org/officeDocument/2006/math">
                    <m:oMathParaPr>
                      <m:jc m:val="center"/>
                    </m:oMathParaPr>
                    <m:oMath xmlns:m="http://schemas.openxmlformats.org/officeDocument/2006/math">
                      <m:r>
                        <a:rPr lang="en-US" altLang="zh-CN" i="1">
                          <a:latin typeface="DejaVu Math TeX Gyre" panose="02000503000000000000" charset="0"/>
                          <a:cs typeface="DejaVu Math TeX Gyre" panose="02000503000000000000" charset="0"/>
                        </a:rPr>
                        <m:t>𝑝</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0</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72</m:t>
                      </m:r>
                    </m:oMath>
                  </m:oMathPara>
                </a14:m>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2658364" y="4902771"/>
                <a:ext cx="6259830" cy="1136650"/>
              </a:xfrm>
              <a:prstGeom prst="rect">
                <a:avLst/>
              </a:prstGeom>
              <a:blipFill rotWithShape="1">
                <a:blip r:embed="rId3"/>
                <a:stretch>
                  <a:fillRect l="-4" t="-50" r="4" b="50"/>
                </a:stretch>
              </a:blipFill>
            </p:spPr>
            <p:txBody>
              <a:bodyPr/>
              <a:lstStyle/>
              <a:p>
                <a:r>
                  <a:rPr lang="zh-CN" altLang="en-US">
                    <a:noFill/>
                  </a:rPr>
                  <a:t> </a:t>
                </a:r>
              </a:p>
            </p:txBody>
          </p:sp>
        </mc:Fallback>
      </mc:AlternateContent>
      <p:pic>
        <p:nvPicPr>
          <p:cNvPr id="4" name="图片 3"/>
          <p:cNvPicPr>
            <a:picLocks noChangeAspect="1"/>
          </p:cNvPicPr>
          <p:nvPr/>
        </p:nvPicPr>
        <p:blipFill>
          <a:blip r:embed="rId4"/>
          <a:stretch>
            <a:fillRect/>
          </a:stretch>
        </p:blipFill>
        <p:spPr>
          <a:xfrm>
            <a:off x="2301875" y="2763520"/>
            <a:ext cx="6624955" cy="1678940"/>
          </a:xfrm>
          <a:prstGeom prst="rect">
            <a:avLst/>
          </a:prstGeom>
          <a:ln>
            <a:solidFill>
              <a:schemeClr val="tx1"/>
            </a:solidFill>
          </a:ln>
        </p:spPr>
      </p:pic>
      <p:sp>
        <p:nvSpPr>
          <p:cNvPr id="6" name="文本框 5"/>
          <p:cNvSpPr txBox="1"/>
          <p:nvPr/>
        </p:nvSpPr>
        <p:spPr>
          <a:xfrm>
            <a:off x="5069205" y="4534535"/>
            <a:ext cx="4064000" cy="368300"/>
          </a:xfrm>
          <a:prstGeom prst="rect">
            <a:avLst/>
          </a:prstGeom>
          <a:noFill/>
        </p:spPr>
        <p:txBody>
          <a:bodyPr wrap="square" rtlCol="0">
            <a:spAutoFit/>
          </a:bodyPr>
          <a:p>
            <a:r>
              <a:rPr lang="zh-CN" altLang="en-US">
                <a:latin typeface="Times New Roman" panose="02020503050405090304" charset="0"/>
                <a:ea typeface="宋体" charset="0"/>
                <a:cs typeface="Times New Roman" panose="02020503050405090304" charset="0"/>
              </a:rPr>
              <a:t>书</a:t>
            </a:r>
            <a:r>
              <a:rPr lang="en-US" altLang="zh-CN">
                <a:latin typeface="Times New Roman" panose="02020503050405090304" charset="0"/>
                <a:ea typeface="宋体" charset="0"/>
                <a:cs typeface="Times New Roman" panose="02020503050405090304" charset="0"/>
              </a:rPr>
              <a:t> P96</a:t>
            </a:r>
            <a:endParaRPr lang="en-US" altLang="zh-CN">
              <a:latin typeface="Times New Roman" panose="02020503050405090304" charset="0"/>
              <a:ea typeface="宋体" charset="0"/>
              <a:cs typeface="Times New Roman" panose="02020503050405090304" charset="0"/>
            </a:endParaRPr>
          </a:p>
        </p:txBody>
      </p:sp>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Times New Roman" panose="02020503050405090304" charset="0"/>
                <a:cs typeface="Times New Roman" panose="02020503050405090304" charset="0"/>
              </a:rPr>
              <a:t>Chapter 2</a:t>
            </a:r>
            <a:endParaRPr lang="en-US" altLang="zh-CN">
              <a:latin typeface="Times New Roman" panose="02020503050405090304" charset="0"/>
              <a:cs typeface="Times New Roman" panose="02020503050405090304" charset="0"/>
            </a:endParaRPr>
          </a:p>
        </p:txBody>
      </p:sp>
      <p:sp>
        <p:nvSpPr>
          <p:cNvPr id="3" name="内容占位符 2"/>
          <p:cNvSpPr>
            <a:spLocks noGrp="1"/>
          </p:cNvSpPr>
          <p:nvPr>
            <p:ph idx="1"/>
            <p:custDataLst>
              <p:tags r:id="rId2"/>
            </p:custDataLst>
          </p:nvPr>
        </p:nvSpPr>
        <p:spPr/>
        <p:txBody>
          <a:bodyPr/>
          <a:p>
            <a:r>
              <a:rPr lang="en-US" altLang="zh-CN">
                <a:latin typeface="Times New Roman" panose="02020503050405090304" charset="0"/>
                <a:cs typeface="Times New Roman" panose="02020503050405090304" charset="0"/>
              </a:rPr>
              <a:t>7. Multiple jobs can run in parallel and finish faster than if they had run sequentially. Suppose that two jobs, each needing 20 minutes of CPU time, start simultaneously. How long will the last one take to complete if they run sequentially? How long if they run in parallel? Assume 50% I/O wait.</a:t>
            </a:r>
            <a:endParaRPr lang="en-US" altLang="zh-CN">
              <a:latin typeface="Times New Roman" panose="02020503050405090304" charset="0"/>
              <a:cs typeface="Times New Roman" panose="02020503050405090304" charset="0"/>
            </a:endParaRPr>
          </a:p>
        </p:txBody>
      </p:sp>
      <mc:AlternateContent xmlns:mc="http://schemas.openxmlformats.org/markup-compatibility/2006">
        <mc:Choice xmlns:a14="http://schemas.microsoft.com/office/drawing/2010/main" Requires="a14">
          <p:sp>
            <p:nvSpPr>
              <p:cNvPr id="4" name="文本框 3"/>
              <p:cNvSpPr txBox="1"/>
              <p:nvPr/>
            </p:nvSpPr>
            <p:spPr>
              <a:xfrm>
                <a:off x="3458210" y="3397250"/>
                <a:ext cx="4782820" cy="2600960"/>
              </a:xfrm>
              <a:prstGeom prst="rect">
                <a:avLst/>
              </a:prstGeom>
              <a:noFill/>
            </p:spPr>
            <p:txBody>
              <a:bodyPr wrap="square" rtlCol="0">
                <a:spAutoFit/>
              </a:bodyPr>
              <a:p>
                <a:pPr algn="l">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ea typeface="宋体" charset="0"/>
                          <a:cs typeface="DejaVu Math TeX Gyre" panose="02000503000000000000" charset="0"/>
                          <a:sym typeface="+mn-ea"/>
                        </a:rPr>
                        <m:t>𝑆𝑒𝑞𝑢𝑒𝑛𝑡𝑖𝑎𝑙𝑙𝑦</m:t>
                      </m:r>
                      <m:r>
                        <a:rPr lang="en-US" altLang="zh-CN" i="1">
                          <a:latin typeface="DejaVu Math TeX Gyre" panose="02000503000000000000" charset="0"/>
                          <a:ea typeface="宋体" charset="0"/>
                          <a:cs typeface="DejaVu Math TeX Gyre" panose="02000503000000000000" charset="0"/>
                          <a:sym typeface="+mn-ea"/>
                        </a:rPr>
                        <m:t>：</m:t>
                      </m:r>
                    </m:oMath>
                  </m:oMathPara>
                </a14:m>
                <a:endParaRPr lang="en-US" altLang="zh-CN" i="1">
                  <a:latin typeface="DejaVu Math TeX Gyre" panose="02000503000000000000" charset="0"/>
                  <a:ea typeface="宋体" charset="0"/>
                  <a:cs typeface="DejaVu Math TeX Gyre" panose="02000503000000000000" charset="0"/>
                  <a:sym typeface="+mn-ea"/>
                </a:endParaRPr>
              </a:p>
              <a:p>
                <a:pPr indent="457200" algn="l">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cs typeface="DejaVu Math TeX Gyre" panose="02000503000000000000" charset="0"/>
                        </a:rPr>
                        <m:t>2</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20</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20</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80</m:t>
                      </m:r>
                      <m:r>
                        <a:rPr lang="en-US" altLang="zh-CN" i="1">
                          <a:latin typeface="DejaVu Math TeX Gyre" panose="02000503000000000000" charset="0"/>
                          <a:ea typeface="宋体" charset="0"/>
                          <a:cs typeface="DejaVu Math TeX Gyre" panose="02000503000000000000" charset="0"/>
                        </a:rPr>
                        <m:t>𝑚𝑖𝑛</m:t>
                      </m:r>
                    </m:oMath>
                  </m:oMathPara>
                </a14:m>
                <a:endParaRPr lang="en-US" altLang="zh-CN" i="1">
                  <a:latin typeface="DejaVu Math TeX Gyre" panose="02000503000000000000" charset="0"/>
                  <a:ea typeface="宋体" charset="0"/>
                  <a:cs typeface="DejaVu Math TeX Gyre" panose="02000503000000000000" charset="0"/>
                </a:endParaRPr>
              </a:p>
              <a:p>
                <a:pPr algn="l">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cs typeface="DejaVu Math TeX Gyre" panose="02000503000000000000" charset="0"/>
                          <a:sym typeface="+mn-ea"/>
                        </a:rPr>
                        <m:t>𝑃𝑎𝑟𝑎𝑙𝑙𝑒𝑙</m:t>
                      </m:r>
                      <m:r>
                        <a:rPr lang="en-US" altLang="zh-CN" i="1">
                          <a:latin typeface="DejaVu Math TeX Gyre" panose="02000503000000000000" charset="0"/>
                          <a:ea typeface="宋体" charset="0"/>
                          <a:cs typeface="DejaVu Math TeX Gyre" panose="02000503000000000000" charset="0"/>
                          <a:sym typeface="+mn-ea"/>
                        </a:rPr>
                        <m:t>：</m:t>
                      </m:r>
                    </m:oMath>
                  </m:oMathPara>
                </a14:m>
                <a:endParaRPr lang="en-US" altLang="zh-CN" i="1">
                  <a:latin typeface="DejaVu Math TeX Gyre" panose="02000503000000000000" charset="0"/>
                  <a:ea typeface="宋体" charset="0"/>
                  <a:cs typeface="DejaVu Math TeX Gyre" panose="02000503000000000000" charset="0"/>
                  <a:sym typeface="+mn-ea"/>
                </a:endParaRPr>
              </a:p>
              <a:p>
                <a:pPr indent="457200" algn="l">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ea typeface="宋体" charset="0"/>
                          <a:cs typeface="DejaVu Math TeX Gyre" panose="02000503000000000000" charset="0"/>
                          <a:sym typeface="+mn-ea"/>
                        </a:rPr>
                        <m:t>𝐶𝑃𝑈</m:t>
                      </m:r>
                      <m:r>
                        <a:rPr lang="en-US" altLang="zh-CN" i="1">
                          <a:latin typeface="DejaVu Math TeX Gyre" panose="02000503000000000000" charset="0"/>
                          <a:ea typeface="宋体" charset="0"/>
                          <a:cs typeface="DejaVu Math TeX Gyre" panose="02000503000000000000" charset="0"/>
                          <a:sym typeface="+mn-ea"/>
                        </a:rPr>
                        <m:t> </m:t>
                      </m:r>
                      <m:r>
                        <a:rPr lang="en-US" altLang="zh-CN" i="1">
                          <a:latin typeface="DejaVu Math TeX Gyre" panose="02000503000000000000" charset="0"/>
                          <a:ea typeface="宋体" charset="0"/>
                          <a:cs typeface="DejaVu Math TeX Gyre" panose="02000503000000000000" charset="0"/>
                          <a:sym typeface="+mn-ea"/>
                        </a:rPr>
                        <m:t>𝑡𝑖𝑚𝑒</m:t>
                      </m:r>
                      <m:r>
                        <a:rPr lang="en-US" altLang="zh-CN" i="1">
                          <a:latin typeface="DejaVu Math TeX Gyre" panose="02000503000000000000" charset="0"/>
                          <a:ea typeface="宋体" charset="0"/>
                          <a:cs typeface="DejaVu Math TeX Gyre" panose="02000503000000000000" charset="0"/>
                          <a:sym typeface="+mn-ea"/>
                        </a:rPr>
                        <m:t>=</m:t>
                      </m:r>
                      <m:r>
                        <a:rPr lang="en-US" altLang="zh-CN" i="1">
                          <a:latin typeface="DejaVu Math TeX Gyre" panose="02000503000000000000" charset="0"/>
                          <a:ea typeface="宋体" charset="0"/>
                          <a:cs typeface="DejaVu Math TeX Gyre" panose="02000503000000000000" charset="0"/>
                          <a:sym typeface="+mn-ea"/>
                        </a:rPr>
                        <m:t>40</m:t>
                      </m:r>
                      <m:r>
                        <a:rPr lang="en-US" altLang="zh-CN" i="1">
                          <a:latin typeface="DejaVu Math TeX Gyre" panose="02000503000000000000" charset="0"/>
                          <a:ea typeface="宋体" charset="0"/>
                          <a:cs typeface="DejaVu Math TeX Gyre" panose="02000503000000000000" charset="0"/>
                          <a:sym typeface="+mn-ea"/>
                        </a:rPr>
                        <m:t>𝑚𝑖𝑛</m:t>
                      </m:r>
                    </m:oMath>
                  </m:oMathPara>
                </a14:m>
                <a:endParaRPr lang="en-US" altLang="zh-CN" i="1">
                  <a:latin typeface="DejaVu Math TeX Gyre" panose="02000503000000000000" charset="0"/>
                  <a:ea typeface="宋体" charset="0"/>
                  <a:cs typeface="DejaVu Math TeX Gyre" panose="02000503000000000000" charset="0"/>
                  <a:sym typeface="+mn-ea"/>
                </a:endParaRPr>
              </a:p>
              <a:p>
                <a:pPr indent="457200" algn="l">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ea typeface="宋体" charset="0"/>
                          <a:cs typeface="DejaVu Math TeX Gyre" panose="02000503000000000000" charset="0"/>
                          <a:sym typeface="+mn-ea"/>
                        </a:rPr>
                        <m:t>𝐶𝑃𝑈</m:t>
                      </m:r>
                      <m:r>
                        <a:rPr lang="en-US" altLang="zh-CN" i="1">
                          <a:latin typeface="DejaVu Math TeX Gyre" panose="02000503000000000000" charset="0"/>
                          <a:ea typeface="宋体" charset="0"/>
                          <a:cs typeface="DejaVu Math TeX Gyre" panose="02000503000000000000" charset="0"/>
                          <a:sym typeface="+mn-ea"/>
                        </a:rPr>
                        <m:t> </m:t>
                      </m:r>
                      <m:r>
                        <a:rPr lang="en-US" altLang="zh-CN" i="1">
                          <a:latin typeface="DejaVu Math TeX Gyre" panose="02000503000000000000" charset="0"/>
                          <a:ea typeface="宋体" charset="0"/>
                          <a:cs typeface="DejaVu Math TeX Gyre" panose="02000503000000000000" charset="0"/>
                          <a:sym typeface="+mn-ea"/>
                        </a:rPr>
                        <m:t>𝑢𝑡𝑖𝑙𝑖𝑧𝑎𝑡𝑖𝑜𝑛</m:t>
                      </m:r>
                      <m:r>
                        <a:rPr lang="en-US" altLang="zh-CN" i="1">
                          <a:latin typeface="DejaVu Math TeX Gyre" panose="02000503000000000000" charset="0"/>
                          <a:ea typeface="宋体" charset="0"/>
                          <a:cs typeface="DejaVu Math TeX Gyre" panose="02000503000000000000" charset="0"/>
                          <a:sym typeface="+mn-ea"/>
                        </a:rPr>
                        <m:t>=</m:t>
                      </m:r>
                      <m:r>
                        <a:rPr lang="en-US" altLang="zh-CN" i="1">
                          <a:latin typeface="DejaVu Math TeX Gyre" panose="02000503000000000000" charset="0"/>
                          <a:ea typeface="宋体" charset="0"/>
                          <a:cs typeface="DejaVu Math TeX Gyre" panose="02000503000000000000" charset="0"/>
                          <a:sym typeface="+mn-ea"/>
                        </a:rPr>
                        <m:t>1</m:t>
                      </m:r>
                      <m:r>
                        <a:rPr lang="en-US" altLang="zh-CN" i="1">
                          <a:latin typeface="DejaVu Math TeX Gyre" panose="02000503000000000000" charset="0"/>
                          <a:ea typeface="宋体" charset="0"/>
                          <a:cs typeface="DejaVu Math TeX Gyre" panose="02000503000000000000" charset="0"/>
                          <a:sym typeface="+mn-ea"/>
                        </a:rPr>
                        <m:t>−</m:t>
                      </m:r>
                      <m:sSup>
                        <m:sSupPr>
                          <m:ctrlPr>
                            <a:rPr lang="en-US" altLang="zh-CN" i="1">
                              <a:latin typeface="DejaVu Math TeX Gyre" panose="02000503000000000000" charset="0"/>
                              <a:ea typeface="宋体" charset="0"/>
                              <a:cs typeface="DejaVu Math TeX Gyre" panose="02000503000000000000" charset="0"/>
                              <a:sym typeface="+mn-ea"/>
                            </a:rPr>
                          </m:ctrlPr>
                        </m:sSupPr>
                        <m:e>
                          <m:r>
                            <a:rPr lang="en-US" altLang="zh-CN" i="1">
                              <a:latin typeface="DejaVu Math TeX Gyre" panose="02000503000000000000" charset="0"/>
                              <a:ea typeface="宋体" charset="0"/>
                              <a:cs typeface="DejaVu Math TeX Gyre" panose="02000503000000000000" charset="0"/>
                              <a:sym typeface="+mn-ea"/>
                            </a:rPr>
                            <m:t>0</m:t>
                          </m:r>
                          <m:r>
                            <a:rPr lang="en-US" altLang="zh-CN" i="1">
                              <a:latin typeface="DejaVu Math TeX Gyre" panose="02000503000000000000" charset="0"/>
                              <a:ea typeface="宋体" charset="0"/>
                              <a:cs typeface="DejaVu Math TeX Gyre" panose="02000503000000000000" charset="0"/>
                              <a:sym typeface="+mn-ea"/>
                            </a:rPr>
                            <m:t>.</m:t>
                          </m:r>
                          <m:r>
                            <a:rPr lang="en-US" altLang="zh-CN" i="1">
                              <a:latin typeface="DejaVu Math TeX Gyre" panose="02000503000000000000" charset="0"/>
                              <a:ea typeface="宋体" charset="0"/>
                              <a:cs typeface="DejaVu Math TeX Gyre" panose="02000503000000000000" charset="0"/>
                              <a:sym typeface="+mn-ea"/>
                            </a:rPr>
                            <m:t>5</m:t>
                          </m:r>
                        </m:e>
                        <m:sup>
                          <m:r>
                            <a:rPr lang="en-US" altLang="zh-CN" i="1">
                              <a:latin typeface="DejaVu Math TeX Gyre" panose="02000503000000000000" charset="0"/>
                              <a:ea typeface="宋体" charset="0"/>
                              <a:cs typeface="DejaVu Math TeX Gyre" panose="02000503000000000000" charset="0"/>
                              <a:sym typeface="+mn-ea"/>
                            </a:rPr>
                            <m:t>2</m:t>
                          </m:r>
                        </m:sup>
                      </m:sSup>
                      <m:r>
                        <a:rPr lang="en-US" altLang="zh-CN" i="1">
                          <a:latin typeface="DejaVu Math TeX Gyre" panose="02000503000000000000" charset="0"/>
                          <a:ea typeface="宋体" charset="0"/>
                          <a:cs typeface="DejaVu Math TeX Gyre" panose="02000503000000000000" charset="0"/>
                          <a:sym typeface="+mn-ea"/>
                        </a:rPr>
                        <m:t>=</m:t>
                      </m:r>
                      <m:r>
                        <a:rPr lang="en-US" altLang="zh-CN" i="1">
                          <a:latin typeface="DejaVu Math TeX Gyre" panose="02000503000000000000" charset="0"/>
                          <a:ea typeface="宋体" charset="0"/>
                          <a:cs typeface="DejaVu Math TeX Gyre" panose="02000503000000000000" charset="0"/>
                          <a:sym typeface="+mn-ea"/>
                        </a:rPr>
                        <m:t>75</m:t>
                      </m:r>
                      <m:r>
                        <a:rPr lang="en-US" altLang="zh-CN" i="1">
                          <a:latin typeface="DejaVu Math TeX Gyre" panose="02000503000000000000" charset="0"/>
                          <a:ea typeface="宋体" charset="0"/>
                          <a:cs typeface="DejaVu Math TeX Gyre" panose="02000503000000000000" charset="0"/>
                          <a:sym typeface="+mn-ea"/>
                        </a:rPr>
                        <m:t>%</m:t>
                      </m:r>
                    </m:oMath>
                  </m:oMathPara>
                </a14:m>
                <a:endParaRPr lang="en-US" altLang="zh-CN" i="1">
                  <a:latin typeface="DejaVu Math TeX Gyre" panose="02000503000000000000" charset="0"/>
                  <a:ea typeface="宋体" charset="0"/>
                  <a:cs typeface="DejaVu Math TeX Gyre" panose="02000503000000000000" charset="0"/>
                  <a:sym typeface="+mn-ea"/>
                </a:endParaRPr>
              </a:p>
              <a:p>
                <a:pPr indent="457200" algn="l">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ea typeface="宋体" charset="0"/>
                          <a:cs typeface="DejaVu Math TeX Gyre" panose="02000503000000000000" charset="0"/>
                          <a:sym typeface="+mn-ea"/>
                        </a:rPr>
                        <m:t>40</m:t>
                      </m:r>
                      <m:r>
                        <a:rPr lang="en-US" altLang="zh-CN" i="1">
                          <a:latin typeface="DejaVu Math TeX Gyre" panose="02000503000000000000" charset="0"/>
                          <a:ea typeface="宋体" charset="0"/>
                          <a:cs typeface="DejaVu Math TeX Gyre" panose="02000503000000000000" charset="0"/>
                          <a:sym typeface="+mn-ea"/>
                        </a:rPr>
                        <m:t>÷</m:t>
                      </m:r>
                      <m:r>
                        <a:rPr lang="en-US" altLang="zh-CN" i="1">
                          <a:latin typeface="DejaVu Math TeX Gyre" panose="02000503000000000000" charset="0"/>
                          <a:ea typeface="宋体" charset="0"/>
                          <a:cs typeface="DejaVu Math TeX Gyre" panose="02000503000000000000" charset="0"/>
                          <a:sym typeface="+mn-ea"/>
                        </a:rPr>
                        <m:t>75</m:t>
                      </m:r>
                      <m:r>
                        <a:rPr lang="en-US" altLang="zh-CN" i="1">
                          <a:latin typeface="DejaVu Math TeX Gyre" panose="02000503000000000000" charset="0"/>
                          <a:ea typeface="宋体" charset="0"/>
                          <a:cs typeface="DejaVu Math TeX Gyre" panose="02000503000000000000" charset="0"/>
                          <a:sym typeface="+mn-ea"/>
                        </a:rPr>
                        <m:t>%</m:t>
                      </m:r>
                      <m:r>
                        <a:rPr lang="en-US" altLang="zh-CN" i="1">
                          <a:latin typeface="DejaVu Math TeX Gyre" panose="02000503000000000000" charset="0"/>
                          <a:ea typeface="宋体" charset="0"/>
                          <a:cs typeface="DejaVu Math TeX Gyre" panose="02000503000000000000" charset="0"/>
                          <a:sym typeface="+mn-ea"/>
                        </a:rPr>
                        <m:t>=</m:t>
                      </m:r>
                      <m:r>
                        <a:rPr lang="en-US" altLang="zh-CN" i="1">
                          <a:latin typeface="DejaVu Math TeX Gyre" panose="02000503000000000000" charset="0"/>
                          <a:ea typeface="宋体" charset="0"/>
                          <a:cs typeface="DejaVu Math TeX Gyre" panose="02000503000000000000" charset="0"/>
                          <a:sym typeface="+mn-ea"/>
                        </a:rPr>
                        <m:t>53</m:t>
                      </m:r>
                      <m:r>
                        <a:rPr lang="en-US" altLang="zh-CN" i="1">
                          <a:latin typeface="DejaVu Math TeX Gyre" panose="02000503000000000000" charset="0"/>
                          <a:ea typeface="宋体" charset="0"/>
                          <a:cs typeface="DejaVu Math TeX Gyre" panose="02000503000000000000" charset="0"/>
                          <a:sym typeface="+mn-ea"/>
                        </a:rPr>
                        <m:t>.</m:t>
                      </m:r>
                      <m:r>
                        <a:rPr lang="en-US" altLang="zh-CN" i="1">
                          <a:latin typeface="DejaVu Math TeX Gyre" panose="02000503000000000000" charset="0"/>
                          <a:ea typeface="宋体" charset="0"/>
                          <a:cs typeface="DejaVu Math TeX Gyre" panose="02000503000000000000" charset="0"/>
                          <a:sym typeface="+mn-ea"/>
                        </a:rPr>
                        <m:t>33</m:t>
                      </m:r>
                      <m:r>
                        <a:rPr lang="en-US" altLang="zh-CN" i="1">
                          <a:latin typeface="DejaVu Math TeX Gyre" panose="02000503000000000000" charset="0"/>
                          <a:ea typeface="宋体" charset="0"/>
                          <a:cs typeface="DejaVu Math TeX Gyre" panose="02000503000000000000" charset="0"/>
                          <a:sym typeface="+mn-ea"/>
                        </a:rPr>
                        <m:t>𝑚𝑖𝑛</m:t>
                      </m:r>
                    </m:oMath>
                  </m:oMathPara>
                </a14:m>
                <a:endParaRPr lang="en-US" altLang="zh-CN" i="1">
                  <a:latin typeface="DejaVu Math TeX Gyre" panose="02000503000000000000" charset="0"/>
                  <a:ea typeface="宋体" charset="0"/>
                  <a:cs typeface="DejaVu Math TeX Gyre" panose="02000503000000000000" charset="0"/>
                  <a:sym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3458210" y="3397250"/>
                <a:ext cx="4782820" cy="2600960"/>
              </a:xfrm>
              <a:prstGeom prst="rect">
                <a:avLst/>
              </a:prstGeom>
              <a:blipFill rotWithShape="1">
                <a:blip r:embed="rId3"/>
                <a:stretch>
                  <a:fillRect/>
                </a:stretch>
              </a:blipFill>
            </p:spPr>
            <p:txBody>
              <a:bodyPr/>
              <a:lstStyle/>
              <a:p>
                <a:r>
                  <a:rPr lang="zh-CN" altLang="en-US">
                    <a:noFill/>
                  </a:rPr>
                  <a:t> </a:t>
                </a:r>
              </a:p>
            </p:txBody>
          </p:sp>
        </mc:Fallback>
      </mc:AlternateContent>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Times New Roman" panose="02020503050405090304" charset="0"/>
                <a:cs typeface="Times New Roman" panose="02020503050405090304" charset="0"/>
              </a:rPr>
              <a:t>Chapter 2</a:t>
            </a:r>
            <a:endParaRPr lang="en-US" altLang="zh-CN">
              <a:latin typeface="Times New Roman" panose="02020503050405090304" charset="0"/>
              <a:cs typeface="Times New Roman" panose="02020503050405090304" charset="0"/>
            </a:endParaRPr>
          </a:p>
        </p:txBody>
      </p:sp>
      <p:sp>
        <p:nvSpPr>
          <p:cNvPr id="3" name="内容占位符 2"/>
          <p:cNvSpPr>
            <a:spLocks noGrp="1"/>
          </p:cNvSpPr>
          <p:nvPr>
            <p:ph idx="1"/>
            <p:custDataLst>
              <p:tags r:id="rId2"/>
            </p:custDataLst>
          </p:nvPr>
        </p:nvSpPr>
        <p:spPr>
          <a:xfrm>
            <a:off x="608330" y="1490345"/>
            <a:ext cx="10968990" cy="1164590"/>
          </a:xfrm>
        </p:spPr>
        <p:txBody>
          <a:bodyPr/>
          <a:p>
            <a:r>
              <a:rPr lang="en-US" altLang="zh-CN">
                <a:latin typeface="Times New Roman" panose="02020503050405090304" charset="0"/>
                <a:cs typeface="Times New Roman" panose="02020503050405090304" charset="0"/>
              </a:rPr>
              <a:t>12. In Fig. 2-8, a multithreaded Web server is shown. If the only way to read from a file is the normal blocking read system call, do you think user-level threads or kernel-level threads are being used for the Web server? Why?</a:t>
            </a:r>
            <a:endParaRPr lang="en-US" altLang="zh-CN">
              <a:latin typeface="Times New Roman" panose="02020503050405090304" charset="0"/>
              <a:cs typeface="Times New Roman" panose="02020503050405090304" charset="0"/>
            </a:endParaRPr>
          </a:p>
        </p:txBody>
      </p:sp>
      <p:pic>
        <p:nvPicPr>
          <p:cNvPr id="4" name="图片 3"/>
          <p:cNvPicPr>
            <a:picLocks noChangeAspect="1"/>
          </p:cNvPicPr>
          <p:nvPr/>
        </p:nvPicPr>
        <p:blipFill>
          <a:blip r:embed="rId3"/>
          <a:srcRect r="5645"/>
          <a:stretch>
            <a:fillRect/>
          </a:stretch>
        </p:blipFill>
        <p:spPr>
          <a:xfrm>
            <a:off x="608330" y="2797175"/>
            <a:ext cx="5338445" cy="3775075"/>
          </a:xfrm>
          <a:prstGeom prst="rect">
            <a:avLst/>
          </a:prstGeom>
          <a:ln>
            <a:solidFill>
              <a:schemeClr val="tx1"/>
            </a:solidFill>
          </a:ln>
        </p:spPr>
      </p:pic>
      <p:sp>
        <p:nvSpPr>
          <p:cNvPr id="5" name="文本框 4"/>
          <p:cNvSpPr txBox="1"/>
          <p:nvPr/>
        </p:nvSpPr>
        <p:spPr>
          <a:xfrm>
            <a:off x="6234430" y="2750185"/>
            <a:ext cx="5454015" cy="3276600"/>
          </a:xfrm>
          <a:prstGeom prst="rect">
            <a:avLst/>
          </a:prstGeom>
          <a:noFill/>
        </p:spPr>
        <p:txBody>
          <a:bodyPr wrap="square" rtlCol="0">
            <a:spAutoFit/>
          </a:bodyPr>
          <a:p>
            <a:pPr>
              <a:lnSpc>
                <a:spcPct val="150000"/>
              </a:lnSpc>
            </a:pPr>
            <a:r>
              <a:rPr lang="en-US" altLang="zh-CN">
                <a:latin typeface="Times New Roman" panose="02020503050405090304" charset="0"/>
                <a:cs typeface="Times New Roman" panose="02020503050405090304" charset="0"/>
                <a:sym typeface="+mn-ea"/>
              </a:rPr>
              <a:t>kernel-level.</a:t>
            </a:r>
            <a:endParaRPr lang="en-US" altLang="zh-CN">
              <a:latin typeface="Times New Roman" panose="02020503050405090304" charset="0"/>
              <a:cs typeface="Times New Roman" panose="02020503050405090304" charset="0"/>
              <a:sym typeface="+mn-ea"/>
            </a:endParaRPr>
          </a:p>
          <a:p>
            <a:pPr>
              <a:lnSpc>
                <a:spcPct val="150000"/>
              </a:lnSpc>
            </a:pPr>
            <a:r>
              <a:rPr lang="en-US" altLang="zh-CN">
                <a:latin typeface="Times New Roman" panose="02020503050405090304" charset="0"/>
                <a:cs typeface="Times New Roman" panose="02020503050405090304" charset="0"/>
                <a:sym typeface="+mn-ea"/>
              </a:rPr>
              <a:t>A worker thread will block when it has to read a Web page from the disk. If user-level threads are being used, this action will block the entire process, destroying the value of multithreading. Thus it is essential that kernel threads are used to permit some threads to block without affecting the others.</a:t>
            </a:r>
            <a:endParaRPr lang="en-US" altLang="zh-CN">
              <a:latin typeface="Times New Roman" panose="02020503050405090304" charset="0"/>
              <a:cs typeface="Times New Roman" panose="02020503050405090304" charset="0"/>
              <a:sym typeface="+mn-ea"/>
            </a:endParaRPr>
          </a:p>
          <a:p>
            <a:endParaRPr lang="en-US" altLang="zh-CN"/>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Times New Roman" panose="02020503050405090304" charset="0"/>
                <a:cs typeface="Times New Roman" panose="02020503050405090304" charset="0"/>
              </a:rPr>
              <a:t>Chapter 2</a:t>
            </a:r>
            <a:endParaRPr lang="en-US" altLang="zh-CN">
              <a:latin typeface="Times New Roman" panose="02020503050405090304" charset="0"/>
              <a:cs typeface="Times New Roman" panose="02020503050405090304" charset="0"/>
            </a:endParaRPr>
          </a:p>
        </p:txBody>
      </p:sp>
      <p:sp>
        <p:nvSpPr>
          <p:cNvPr id="3" name="内容占位符 2"/>
          <p:cNvSpPr>
            <a:spLocks noGrp="1"/>
          </p:cNvSpPr>
          <p:nvPr>
            <p:ph idx="1"/>
            <p:custDataLst>
              <p:tags r:id="rId2"/>
            </p:custDataLst>
          </p:nvPr>
        </p:nvSpPr>
        <p:spPr>
          <a:xfrm>
            <a:off x="608330" y="1490345"/>
            <a:ext cx="10968990" cy="971550"/>
          </a:xfrm>
        </p:spPr>
        <p:txBody>
          <a:bodyPr/>
          <a:p>
            <a:r>
              <a:rPr lang="en-US" altLang="zh-CN">
                <a:latin typeface="Times New Roman" panose="02020503050405090304" charset="0"/>
                <a:cs typeface="Times New Roman" panose="02020503050405090304" charset="0"/>
              </a:rPr>
              <a:t>15. Why would a thread ever voluntarily give up the CPU by calling thread_yield? After all, since there is no periodic clock interrupt, it may never get the CPU back.</a:t>
            </a:r>
            <a:endParaRPr lang="en-US" altLang="zh-CN">
              <a:latin typeface="Times New Roman" panose="02020503050405090304" charset="0"/>
              <a:cs typeface="Times New Roman" panose="02020503050405090304" charset="0"/>
            </a:endParaRPr>
          </a:p>
        </p:txBody>
      </p:sp>
      <p:sp>
        <p:nvSpPr>
          <p:cNvPr id="4" name="文本框 3"/>
          <p:cNvSpPr txBox="1"/>
          <p:nvPr/>
        </p:nvSpPr>
        <p:spPr>
          <a:xfrm>
            <a:off x="2350135" y="3020695"/>
            <a:ext cx="7492365" cy="1337945"/>
          </a:xfrm>
          <a:prstGeom prst="rect">
            <a:avLst/>
          </a:prstGeom>
          <a:noFill/>
        </p:spPr>
        <p:txBody>
          <a:bodyPr wrap="square" rtlCol="0">
            <a:spAutoFit/>
          </a:bodyPr>
          <a:p>
            <a:pPr>
              <a:lnSpc>
                <a:spcPct val="150000"/>
              </a:lnSpc>
            </a:pPr>
            <a:r>
              <a:rPr lang="en-US" altLang="zh-CN">
                <a:latin typeface="Times New Roman" panose="02020503050405090304" charset="0"/>
                <a:cs typeface="Times New Roman" panose="02020503050405090304" charset="0"/>
              </a:rPr>
              <a:t>Threads in a process cooperate. They are not hostile to one another. If yielding is needed for the good of the application, then a thread will yield. After all, it is usually the same programmer who writes the code for all of them.</a:t>
            </a:r>
            <a:endParaRPr lang="en-US" altLang="zh-CN">
              <a:latin typeface="Times New Roman" panose="02020503050405090304" charset="0"/>
              <a:cs typeface="Times New Roman" panose="02020503050405090304" charset="0"/>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Times New Roman" panose="02020503050405090304" charset="0"/>
                <a:cs typeface="Times New Roman" panose="02020503050405090304" charset="0"/>
              </a:rPr>
              <a:t>Chapter 2</a:t>
            </a:r>
            <a:endParaRPr lang="en-US" altLang="zh-CN">
              <a:latin typeface="Times New Roman" panose="02020503050405090304" charset="0"/>
              <a:cs typeface="Times New Roman" panose="02020503050405090304" charset="0"/>
            </a:endParaRPr>
          </a:p>
        </p:txBody>
      </p:sp>
      <p:sp>
        <p:nvSpPr>
          <p:cNvPr id="3" name="内容占位符 2"/>
          <p:cNvSpPr>
            <a:spLocks noGrp="1"/>
          </p:cNvSpPr>
          <p:nvPr>
            <p:ph idx="1"/>
            <p:custDataLst>
              <p:tags r:id="rId2"/>
            </p:custDataLst>
          </p:nvPr>
        </p:nvSpPr>
        <p:spPr/>
        <p:txBody>
          <a:bodyPr/>
          <a:p>
            <a:r>
              <a:rPr lang="en-US" altLang="zh-CN">
                <a:latin typeface="Times New Roman" panose="02020503050405090304" charset="0"/>
                <a:cs typeface="Times New Roman" panose="02020503050405090304" charset="0"/>
              </a:rPr>
              <a:t>17. In this problem you are to compare reading a file using a single-threaded file server and a multithreaded server. It takes 12 msec to get a request for work, dispatch it, and do the rest of the necessary processing, assuming that the data needed are in the block cache. If a disk operation is needed, as is the case one-third of the time, an additional 75 msec is required, during which time the thread sleeps. How many requests/sec can the server handle if it is single threaded? If it is multithreaded?</a:t>
            </a:r>
            <a:endParaRPr lang="en-US" altLang="zh-CN">
              <a:latin typeface="Times New Roman" panose="02020503050405090304" charset="0"/>
              <a:cs typeface="Times New Roman" panose="02020503050405090304" charset="0"/>
            </a:endParaRPr>
          </a:p>
        </p:txBody>
      </p:sp>
      <mc:AlternateContent xmlns:mc="http://schemas.openxmlformats.org/markup-compatibility/2006">
        <mc:Choice xmlns:a14="http://schemas.microsoft.com/office/drawing/2010/main" Requires="a14">
          <p:sp>
            <p:nvSpPr>
              <p:cNvPr id="4" name="文本框 3"/>
              <p:cNvSpPr txBox="1"/>
              <p:nvPr/>
            </p:nvSpPr>
            <p:spPr>
              <a:xfrm>
                <a:off x="956564" y="3998531"/>
                <a:ext cx="4796155" cy="2172970"/>
              </a:xfrm>
              <a:prstGeom prst="rect">
                <a:avLst/>
              </a:prstGeom>
              <a:noFill/>
            </p:spPr>
            <p:txBody>
              <a:bodyPr wrap="none" rtlCol="0" anchor="t">
                <a:spAutoFit/>
              </a:bodyPr>
              <a:p>
                <a:pPr algn="l">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cs typeface="DejaVu Math TeX Gyre" panose="02000503000000000000" charset="0"/>
                        </a:rPr>
                        <m:t>𝑠𝑖𝑛𝑔𝑙𝑒</m:t>
                      </m:r>
                      <m:r>
                        <a:rPr lang="en-US" altLang="zh-CN" i="1">
                          <a:latin typeface="DejaVu Math TeX Gyre" panose="02000503000000000000" charset="0"/>
                          <a:cs typeface="DejaVu Math TeX Gyre" panose="02000503000000000000" charset="0"/>
                        </a:rPr>
                        <m:t>：</m:t>
                      </m:r>
                    </m:oMath>
                  </m:oMathPara>
                </a14:m>
                <a:endParaRPr lang="en-US" altLang="zh-CN" i="1">
                  <a:latin typeface="DejaVu Math TeX Gyre" panose="02000503000000000000" charset="0"/>
                  <a:cs typeface="DejaVu Math TeX Gyre" panose="02000503000000000000" charset="0"/>
                </a:endParaRPr>
              </a:p>
              <a:p>
                <a:pPr indent="457200" algn="l">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cs typeface="DejaVu Math TeX Gyre" panose="02000503000000000000" charset="0"/>
                        </a:rPr>
                        <m:t>12</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2</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3</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1</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3</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12</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75</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37</m:t>
                      </m:r>
                      <m:r>
                        <a:rPr lang="en-US" altLang="zh-CN" i="1">
                          <a:latin typeface="DejaVu Math TeX Gyre" panose="02000503000000000000" charset="0"/>
                          <a:ea typeface="宋体" charset="0"/>
                          <a:cs typeface="DejaVu Math TeX Gyre" panose="02000503000000000000" charset="0"/>
                        </a:rPr>
                        <m:t>𝑚𝑠</m:t>
                      </m:r>
                    </m:oMath>
                  </m:oMathPara>
                </a14:m>
                <a:endParaRPr lang="en-US" altLang="zh-CN" i="1">
                  <a:latin typeface="DejaVu Math TeX Gyre" panose="02000503000000000000" charset="0"/>
                  <a:ea typeface="宋体" charset="0"/>
                  <a:cs typeface="DejaVu Math TeX Gyre" panose="02000503000000000000" charset="0"/>
                </a:endParaRPr>
              </a:p>
              <a:p>
                <a:pPr indent="457200" algn="l">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cs typeface="DejaVu Math TeX Gyre" panose="02000503000000000000" charset="0"/>
                        </a:rPr>
                        <m:t>𝑟𝑒𝑞𝑢𝑒𝑠𝑡</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1</m:t>
                      </m:r>
                      <m:r>
                        <a:rPr lang="en-US" altLang="zh-CN" i="1">
                          <a:latin typeface="DejaVu Math TeX Gyre" panose="02000503000000000000" charset="0"/>
                          <a:ea typeface="宋体" charset="0"/>
                          <a:cs typeface="DejaVu Math TeX Gyre" panose="02000503000000000000" charset="0"/>
                        </a:rPr>
                        <m:t>𝑠</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37</m:t>
                      </m:r>
                      <m:r>
                        <a:rPr lang="en-US" altLang="zh-CN" i="1">
                          <a:latin typeface="DejaVu Math TeX Gyre" panose="02000503000000000000" charset="0"/>
                          <a:ea typeface="宋体" charset="0"/>
                          <a:cs typeface="DejaVu Math TeX Gyre" panose="02000503000000000000" charset="0"/>
                        </a:rPr>
                        <m:t>𝑚𝑠</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27</m:t>
                      </m:r>
                    </m:oMath>
                  </m:oMathPara>
                </a14:m>
                <a:endParaRPr lang="en-US" altLang="zh-CN" i="1">
                  <a:latin typeface="DejaVu Math TeX Gyre" panose="02000503000000000000" charset="0"/>
                  <a:ea typeface="宋体" charset="0"/>
                  <a:cs typeface="DejaVu Math TeX Gyre" panose="02000503000000000000" charset="0"/>
                </a:endParaRPr>
              </a:p>
              <a:p>
                <a:pPr algn="l">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ea typeface="宋体" charset="0"/>
                          <a:cs typeface="DejaVu Math TeX Gyre" panose="02000503000000000000" charset="0"/>
                        </a:rPr>
                        <m:t>𝑚𝑢𝑙𝑡𝑖</m:t>
                      </m:r>
                      <m:r>
                        <a:rPr lang="en-US" altLang="zh-CN" i="1">
                          <a:latin typeface="DejaVu Math TeX Gyre" panose="02000503000000000000" charset="0"/>
                          <a:ea typeface="宋体" charset="0"/>
                          <a:cs typeface="DejaVu Math TeX Gyre" panose="02000503000000000000" charset="0"/>
                        </a:rPr>
                        <m:t>：</m:t>
                      </m:r>
                    </m:oMath>
                  </m:oMathPara>
                </a14:m>
                <a:endParaRPr lang="en-US" altLang="zh-CN" i="1">
                  <a:latin typeface="DejaVu Math TeX Gyre" panose="02000503000000000000" charset="0"/>
                  <a:ea typeface="宋体" charset="0"/>
                  <a:cs typeface="DejaVu Math TeX Gyre" panose="02000503000000000000" charset="0"/>
                </a:endParaRPr>
              </a:p>
              <a:p>
                <a:pPr indent="457200" algn="l">
                  <a:lnSpc>
                    <a:spcPct val="150000"/>
                  </a:lnSpc>
                </a:pPr>
                <a14:m>
                  <m:oMathPara xmlns:m="http://schemas.openxmlformats.org/officeDocument/2006/math">
                    <m:oMathParaPr>
                      <m:jc m:val="left"/>
                    </m:oMathParaPr>
                    <m:oMath xmlns:m="http://schemas.openxmlformats.org/officeDocument/2006/math">
                      <m:r>
                        <a:rPr lang="en-US" altLang="zh-CN" i="1">
                          <a:latin typeface="DejaVu Math TeX Gyre" panose="02000503000000000000" charset="0"/>
                          <a:ea typeface="宋体" charset="0"/>
                          <a:cs typeface="DejaVu Math TeX Gyre" panose="02000503000000000000" charset="0"/>
                        </a:rPr>
                        <m:t>1</m:t>
                      </m:r>
                      <m:r>
                        <a:rPr lang="en-US" altLang="zh-CN" i="1">
                          <a:latin typeface="DejaVu Math TeX Gyre" panose="02000503000000000000" charset="0"/>
                          <a:ea typeface="宋体" charset="0"/>
                          <a:cs typeface="DejaVu Math TeX Gyre" panose="02000503000000000000" charset="0"/>
                        </a:rPr>
                        <m:t>𝑠</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12</m:t>
                      </m:r>
                      <m:r>
                        <a:rPr lang="en-US" altLang="zh-CN" i="1">
                          <a:latin typeface="DejaVu Math TeX Gyre" panose="02000503000000000000" charset="0"/>
                          <a:ea typeface="宋体" charset="0"/>
                          <a:cs typeface="DejaVu Math TeX Gyre" panose="02000503000000000000" charset="0"/>
                        </a:rPr>
                        <m:t>𝑚𝑠</m:t>
                      </m:r>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83</m:t>
                      </m:r>
                    </m:oMath>
                  </m:oMathPara>
                </a14:m>
                <a:endParaRPr lang="en-US" altLang="zh-CN" i="1">
                  <a:latin typeface="DejaVu Math TeX Gyre" panose="02000503000000000000" charset="0"/>
                  <a:ea typeface="宋体" charset="0"/>
                  <a:cs typeface="DejaVu Math TeX Gyre" panose="02000503000000000000"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956564" y="3998531"/>
                <a:ext cx="4796155" cy="2172970"/>
              </a:xfrm>
              <a:prstGeom prst="rect">
                <a:avLst/>
              </a:prstGeom>
              <a:blipFill rotWithShape="1">
                <a:blip r:embed="rId3"/>
                <a:stretch>
                  <a:fillRect l="-5" t="-26" r="5" b="26"/>
                </a:stretch>
              </a:blipFill>
            </p:spPr>
            <p:txBody>
              <a:bodyPr/>
              <a:lstStyle/>
              <a:p>
                <a:r>
                  <a:rPr lang="zh-CN" altLang="en-US">
                    <a:noFill/>
                  </a:rPr>
                  <a:t> </a:t>
                </a:r>
              </a:p>
            </p:txBody>
          </p:sp>
        </mc:Fallback>
      </mc:AlternateContent>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82620"/>
            <a:ext cx="10969200" cy="705600"/>
          </a:xfrm>
        </p:spPr>
        <p:txBody>
          <a:bodyPr/>
          <a:p>
            <a:r>
              <a:rPr lang="en-US" altLang="zh-CN">
                <a:latin typeface="Times New Roman" panose="02020503050405090304" charset="0"/>
                <a:cs typeface="Times New Roman" panose="02020503050405090304" charset="0"/>
              </a:rPr>
              <a:t>Chapter 2</a:t>
            </a:r>
            <a:endParaRPr lang="en-US" altLang="zh-CN">
              <a:latin typeface="Times New Roman" panose="02020503050405090304" charset="0"/>
              <a:cs typeface="Times New Roman" panose="02020503050405090304" charset="0"/>
            </a:endParaRPr>
          </a:p>
        </p:txBody>
      </p:sp>
      <p:sp>
        <p:nvSpPr>
          <p:cNvPr id="3" name="内容占位符 2"/>
          <p:cNvSpPr>
            <a:spLocks noGrp="1"/>
          </p:cNvSpPr>
          <p:nvPr>
            <p:ph idx="1"/>
            <p:custDataLst>
              <p:tags r:id="rId2"/>
            </p:custDataLst>
          </p:nvPr>
        </p:nvSpPr>
        <p:spPr>
          <a:xfrm>
            <a:off x="608330" y="964565"/>
            <a:ext cx="10968990" cy="921385"/>
          </a:xfrm>
        </p:spPr>
        <p:txBody>
          <a:bodyPr/>
          <a:p>
            <a:r>
              <a:rPr lang="en-US" altLang="zh-CN">
                <a:latin typeface="Times New Roman" panose="02020503050405090304" charset="0"/>
                <a:cs typeface="Times New Roman" panose="02020503050405090304" charset="0"/>
              </a:rPr>
              <a:t>18. What is the biggest advantage of implementing threads in user space? What is the biggest disadvantage?</a:t>
            </a:r>
            <a:endParaRPr lang="en-US" altLang="zh-CN">
              <a:latin typeface="Times New Roman" panose="02020503050405090304" charset="0"/>
              <a:cs typeface="Times New Roman" panose="02020503050405090304" charset="0"/>
            </a:endParaRPr>
          </a:p>
        </p:txBody>
      </p:sp>
      <p:sp>
        <p:nvSpPr>
          <p:cNvPr id="4" name="文本框 3"/>
          <p:cNvSpPr txBox="1"/>
          <p:nvPr/>
        </p:nvSpPr>
        <p:spPr>
          <a:xfrm>
            <a:off x="6764020" y="3131185"/>
            <a:ext cx="5303520" cy="1753235"/>
          </a:xfrm>
          <a:prstGeom prst="rect">
            <a:avLst/>
          </a:prstGeom>
          <a:noFill/>
        </p:spPr>
        <p:txBody>
          <a:bodyPr wrap="square" rtlCol="0">
            <a:spAutoFit/>
          </a:bodyPr>
          <a:p>
            <a:pPr>
              <a:lnSpc>
                <a:spcPct val="150000"/>
              </a:lnSpc>
            </a:pPr>
            <a:r>
              <a:rPr lang="en-US" altLang="zh-CN">
                <a:latin typeface="Times New Roman" panose="02020503050405090304" charset="0"/>
                <a:cs typeface="Times New Roman" panose="02020503050405090304" charset="0"/>
              </a:rPr>
              <a:t>The biggest advantage is the efficiency. No traps to the kernel are needed to switch threads. </a:t>
            </a:r>
            <a:endParaRPr lang="en-US" altLang="zh-CN">
              <a:latin typeface="Times New Roman" panose="02020503050405090304" charset="0"/>
              <a:cs typeface="Times New Roman" panose="02020503050405090304" charset="0"/>
            </a:endParaRPr>
          </a:p>
          <a:p>
            <a:pPr>
              <a:lnSpc>
                <a:spcPct val="150000"/>
              </a:lnSpc>
            </a:pPr>
            <a:r>
              <a:rPr lang="en-US" altLang="zh-CN">
                <a:latin typeface="Times New Roman" panose="02020503050405090304" charset="0"/>
                <a:cs typeface="Times New Roman" panose="02020503050405090304" charset="0"/>
              </a:rPr>
              <a:t>The biggest disadvantage is that if one thread blocks, the entire process blocks.</a:t>
            </a:r>
            <a:endParaRPr lang="en-US" altLang="zh-CN">
              <a:latin typeface="Times New Roman" panose="02020503050405090304" charset="0"/>
              <a:cs typeface="Times New Roman" panose="02020503050405090304" charset="0"/>
            </a:endParaRPr>
          </a:p>
        </p:txBody>
      </p:sp>
      <p:pic>
        <p:nvPicPr>
          <p:cNvPr id="5" name="图片 4"/>
          <p:cNvPicPr>
            <a:picLocks noChangeAspect="1"/>
          </p:cNvPicPr>
          <p:nvPr/>
        </p:nvPicPr>
        <p:blipFill>
          <a:blip r:embed="rId3"/>
          <a:srcRect r="1568"/>
          <a:stretch>
            <a:fillRect/>
          </a:stretch>
        </p:blipFill>
        <p:spPr>
          <a:xfrm>
            <a:off x="608330" y="1885950"/>
            <a:ext cx="6059170" cy="4487545"/>
          </a:xfrm>
          <a:prstGeom prst="rect">
            <a:avLst/>
          </a:prstGeom>
          <a:ln>
            <a:solidFill>
              <a:schemeClr val="tx1"/>
            </a:solidFill>
          </a:ln>
        </p:spPr>
      </p:pic>
      <p:cxnSp>
        <p:nvCxnSpPr>
          <p:cNvPr id="7" name="直接连接符 6"/>
          <p:cNvCxnSpPr/>
          <p:nvPr/>
        </p:nvCxnSpPr>
        <p:spPr>
          <a:xfrm>
            <a:off x="1275715" y="3307080"/>
            <a:ext cx="2578100" cy="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6" name="直接连接符 5"/>
          <p:cNvCxnSpPr/>
          <p:nvPr/>
        </p:nvCxnSpPr>
        <p:spPr>
          <a:xfrm>
            <a:off x="808990" y="3904615"/>
            <a:ext cx="2999105" cy="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a:off x="713105" y="5727700"/>
            <a:ext cx="2092325" cy="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2805430" y="6347460"/>
            <a:ext cx="4064000" cy="368300"/>
          </a:xfrm>
          <a:prstGeom prst="rect">
            <a:avLst/>
          </a:prstGeom>
          <a:noFill/>
        </p:spPr>
        <p:txBody>
          <a:bodyPr wrap="square" rtlCol="0">
            <a:spAutoFit/>
          </a:bodyPr>
          <a:p>
            <a:r>
              <a:rPr lang="zh-CN" altLang="en-US">
                <a:latin typeface="Times New Roman" panose="02020503050405090304" charset="0"/>
                <a:ea typeface="宋体" charset="0"/>
                <a:cs typeface="Times New Roman" panose="02020503050405090304" charset="0"/>
                <a:sym typeface="+mn-ea"/>
              </a:rPr>
              <a:t>书</a:t>
            </a:r>
            <a:r>
              <a:rPr lang="en-US" altLang="zh-CN">
                <a:latin typeface="Times New Roman" panose="02020503050405090304" charset="0"/>
                <a:ea typeface="宋体" charset="0"/>
                <a:cs typeface="Times New Roman" panose="02020503050405090304" charset="0"/>
                <a:sym typeface="+mn-ea"/>
              </a:rPr>
              <a:t> P110</a:t>
            </a:r>
            <a:endParaRPr lang="zh-CN" altLang="en-US"/>
          </a:p>
        </p:txBody>
      </p:sp>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198825"/>
            <a:ext cx="10969200" cy="705600"/>
          </a:xfrm>
        </p:spPr>
        <p:txBody>
          <a:bodyPr/>
          <a:p>
            <a:r>
              <a:rPr lang="zh-CN" altLang="en-US">
                <a:latin typeface="Times New Roman" panose="02020503050405090304" charset="0"/>
                <a:cs typeface="Times New Roman" panose="02020503050405090304" charset="0"/>
              </a:rPr>
              <a:t>课堂检测</a:t>
            </a:r>
            <a:endParaRPr lang="zh-CN" altLang="en-US">
              <a:latin typeface="Times New Roman" panose="02020503050405090304" charset="0"/>
              <a:cs typeface="Times New Roman" panose="02020503050405090304" charset="0"/>
            </a:endParaRPr>
          </a:p>
        </p:txBody>
      </p:sp>
      <p:sp>
        <p:nvSpPr>
          <p:cNvPr id="3" name="内容占位符 2"/>
          <p:cNvSpPr>
            <a:spLocks noGrp="1"/>
          </p:cNvSpPr>
          <p:nvPr>
            <p:ph idx="1"/>
            <p:custDataLst>
              <p:tags r:id="rId2"/>
            </p:custDataLst>
          </p:nvPr>
        </p:nvSpPr>
        <p:spPr>
          <a:xfrm>
            <a:off x="608330" y="904240"/>
            <a:ext cx="10968990" cy="5528310"/>
          </a:xfrm>
        </p:spPr>
        <p:txBody>
          <a:bodyPr>
            <a:noAutofit/>
          </a:bodyPr>
          <a:p>
            <a:r>
              <a:rPr lang="en-US" altLang="zh-CN" sz="1700">
                <a:latin typeface="Times New Roman" panose="02020503050405090304" charset="0"/>
                <a:cs typeface="Times New Roman" panose="02020503050405090304" charset="0"/>
              </a:rPr>
              <a:t>45. Five batch jobs. A through E, arrive at a computer center at almost the same time.They have estimated running times of 10, 6, 2, 4, and 8 minutes. Their (externally de_x0002_termined) priorities are 3, 5, 2, 1, and 4, respectively, with 5 being the highest priority.For each of the following scheduling algorithms, determine the mean process turnaround time. Ignore process switching overhead.</a:t>
            </a:r>
            <a:endParaRPr lang="en-US" altLang="zh-CN" sz="1700">
              <a:latin typeface="Times New Roman" panose="02020503050405090304" charset="0"/>
              <a:cs typeface="Times New Roman" panose="02020503050405090304" charset="0"/>
            </a:endParaRPr>
          </a:p>
          <a:p>
            <a:pPr marL="0" indent="457200">
              <a:buNone/>
            </a:pPr>
            <a:r>
              <a:rPr lang="en-US" altLang="zh-CN" sz="1700">
                <a:latin typeface="Times New Roman" panose="02020503050405090304" charset="0"/>
                <a:cs typeface="Times New Roman" panose="02020503050405090304" charset="0"/>
              </a:rPr>
              <a:t>(a) Round robin.</a:t>
            </a:r>
            <a:endParaRPr lang="en-US" altLang="zh-CN" sz="1700">
              <a:latin typeface="Times New Roman" panose="02020503050405090304" charset="0"/>
              <a:cs typeface="Times New Roman" panose="02020503050405090304" charset="0"/>
            </a:endParaRPr>
          </a:p>
          <a:p>
            <a:pPr marL="0" indent="457200">
              <a:buNone/>
            </a:pPr>
            <a:r>
              <a:rPr lang="en-US" altLang="zh-CN" sz="1700">
                <a:latin typeface="Times New Roman" panose="02020503050405090304" charset="0"/>
                <a:cs typeface="Times New Roman" panose="02020503050405090304" charset="0"/>
              </a:rPr>
              <a:t>(b) Priority scheduling.</a:t>
            </a:r>
            <a:endParaRPr lang="en-US" altLang="zh-CN" sz="1700">
              <a:latin typeface="Times New Roman" panose="02020503050405090304" charset="0"/>
              <a:cs typeface="Times New Roman" panose="02020503050405090304" charset="0"/>
            </a:endParaRPr>
          </a:p>
          <a:p>
            <a:pPr marL="0" indent="457200">
              <a:buNone/>
            </a:pPr>
            <a:r>
              <a:rPr lang="en-US" altLang="zh-CN" sz="1700">
                <a:latin typeface="Times New Roman" panose="02020503050405090304" charset="0"/>
                <a:cs typeface="Times New Roman" panose="02020503050405090304" charset="0"/>
              </a:rPr>
              <a:t>(c) First-come, first-served (run in order 10, 6, 2, 4, 8).</a:t>
            </a:r>
            <a:endParaRPr lang="en-US" altLang="zh-CN" sz="1700">
              <a:latin typeface="Times New Roman" panose="02020503050405090304" charset="0"/>
              <a:cs typeface="Times New Roman" panose="02020503050405090304" charset="0"/>
            </a:endParaRPr>
          </a:p>
          <a:p>
            <a:pPr marL="0" indent="457200">
              <a:buNone/>
            </a:pPr>
            <a:r>
              <a:rPr lang="en-US" altLang="zh-CN" sz="1700">
                <a:latin typeface="Times New Roman" panose="02020503050405090304" charset="0"/>
                <a:cs typeface="Times New Roman" panose="02020503050405090304" charset="0"/>
              </a:rPr>
              <a:t>(d) Shortest job first.</a:t>
            </a:r>
            <a:endParaRPr lang="en-US" altLang="zh-CN" sz="1700">
              <a:latin typeface="Times New Roman" panose="02020503050405090304" charset="0"/>
              <a:cs typeface="Times New Roman" panose="02020503050405090304" charset="0"/>
            </a:endParaRPr>
          </a:p>
          <a:p>
            <a:pPr marL="0" indent="457200">
              <a:buNone/>
            </a:pPr>
            <a:endParaRPr lang="en-US" altLang="zh-CN" sz="1700">
              <a:latin typeface="Times New Roman" panose="02020503050405090304" charset="0"/>
              <a:cs typeface="Times New Roman" panose="02020503050405090304" charset="0"/>
            </a:endParaRPr>
          </a:p>
          <a:p>
            <a:pPr marL="0" indent="457200">
              <a:buNone/>
            </a:pPr>
            <a:endParaRPr lang="en-US" altLang="zh-CN" sz="1700">
              <a:latin typeface="Times New Roman" panose="02020503050405090304" charset="0"/>
              <a:cs typeface="Times New Roman" panose="02020503050405090304" charset="0"/>
            </a:endParaRPr>
          </a:p>
          <a:p>
            <a:r>
              <a:rPr lang="en-US" altLang="zh-CN" sz="1700">
                <a:latin typeface="Times New Roman" panose="02020503050405090304" charset="0"/>
                <a:cs typeface="Times New Roman" panose="02020503050405090304" charset="0"/>
              </a:rPr>
              <a:t>For (a), assume that the system is multiprogrammed, and that each job gets its fair share of the CPU. For (b) through (d), assume that only one job at a time runs, until it finishes. All jobs are completely CPU bound.</a:t>
            </a:r>
            <a:endParaRPr lang="en-US" altLang="zh-CN" sz="1700">
              <a:latin typeface="Times New Roman" panose="02020503050405090304" charset="0"/>
              <a:cs typeface="Times New Roman" panose="02020503050405090304" charset="0"/>
            </a:endParaRPr>
          </a:p>
        </p:txBody>
      </p:sp>
      <p:graphicFrame>
        <p:nvGraphicFramePr>
          <p:cNvPr id="5" name="表格 4"/>
          <p:cNvGraphicFramePr/>
          <p:nvPr>
            <p:custDataLst>
              <p:tags r:id="rId3"/>
            </p:custDataLst>
          </p:nvPr>
        </p:nvGraphicFramePr>
        <p:xfrm>
          <a:off x="7458075" y="2783205"/>
          <a:ext cx="2905125" cy="2227580"/>
        </p:xfrm>
        <a:graphic>
          <a:graphicData uri="http://schemas.openxmlformats.org/drawingml/2006/table">
            <a:tbl>
              <a:tblPr firstRow="1" bandRow="1">
                <a:tableStyleId>{9D7B26C5-4107-4FEC-AEDC-1716B250A1EF}</a:tableStyleId>
              </a:tblPr>
              <a:tblGrid>
                <a:gridCol w="968375"/>
                <a:gridCol w="968375"/>
                <a:gridCol w="968375"/>
              </a:tblGrid>
              <a:tr h="398780">
                <a:tc>
                  <a:txBody>
                    <a:bodyPr/>
                    <a:p>
                      <a:pPr algn="ctr">
                        <a:buNone/>
                      </a:pPr>
                      <a:endParaRPr lang="zh-CN" altLang="en-US">
                        <a:latin typeface="Times New Roman" panose="02020503050405090304" charset="0"/>
                        <a:cs typeface="Times New Roman" panose="02020503050405090304" charset="0"/>
                      </a:endParaRPr>
                    </a:p>
                  </a:txBody>
                  <a:tcPr/>
                </a:tc>
                <a:tc>
                  <a:txBody>
                    <a:bodyPr/>
                    <a:p>
                      <a:pPr algn="ctr">
                        <a:buNone/>
                      </a:pPr>
                      <a:r>
                        <a:rPr lang="en-US" altLang="zh-CN" sz="1800">
                          <a:latin typeface="Times New Roman" panose="02020503050405090304" charset="0"/>
                          <a:cs typeface="Times New Roman" panose="02020503050405090304" charset="0"/>
                          <a:sym typeface="+mn-ea"/>
                        </a:rPr>
                        <a:t>time</a:t>
                      </a:r>
                      <a:endParaRPr lang="en-US" altLang="zh-CN" sz="1800">
                        <a:latin typeface="Times New Roman" panose="02020503050405090304" charset="0"/>
                        <a:cs typeface="Times New Roman" panose="02020503050405090304" charset="0"/>
                        <a:sym typeface="+mn-ea"/>
                      </a:endParaRPr>
                    </a:p>
                  </a:txBody>
                  <a:tcPr/>
                </a:tc>
                <a:tc>
                  <a:txBody>
                    <a:bodyPr/>
                    <a:p>
                      <a:pPr algn="ctr">
                        <a:buNone/>
                      </a:pPr>
                      <a:r>
                        <a:rPr lang="en-US" altLang="zh-CN" sz="1800">
                          <a:latin typeface="Times New Roman" panose="02020503050405090304" charset="0"/>
                          <a:cs typeface="Times New Roman" panose="02020503050405090304" charset="0"/>
                          <a:sym typeface="+mn-ea"/>
                        </a:rPr>
                        <a:t>priorit</a:t>
                      </a:r>
                      <a:r>
                        <a:rPr lang="en-US" altLang="zh-CN" sz="1800">
                          <a:latin typeface="Times New Roman" panose="02020503050405090304" charset="0"/>
                          <a:cs typeface="Times New Roman" panose="02020503050405090304" charset="0"/>
                          <a:sym typeface="+mn-ea"/>
                        </a:rPr>
                        <a:t>y</a:t>
                      </a:r>
                      <a:endParaRPr lang="en-US" altLang="zh-CN" sz="1800">
                        <a:latin typeface="Times New Roman" panose="02020503050405090304" charset="0"/>
                        <a:cs typeface="Times New Roman" panose="02020503050405090304" charset="0"/>
                        <a:sym typeface="+mn-ea"/>
                      </a:endParaRPr>
                    </a:p>
                  </a:txBody>
                  <a:tcPr/>
                </a:tc>
              </a:tr>
              <a:tr h="365760">
                <a:tc>
                  <a:txBody>
                    <a:bodyPr/>
                    <a:p>
                      <a:pPr algn="ctr">
                        <a:buNone/>
                      </a:pPr>
                      <a:r>
                        <a:rPr lang="en-US" altLang="zh-CN">
                          <a:latin typeface="Times New Roman" panose="02020503050405090304" charset="0"/>
                          <a:cs typeface="Times New Roman" panose="02020503050405090304" charset="0"/>
                        </a:rPr>
                        <a:t>A</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10</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3</a:t>
                      </a:r>
                      <a:endParaRPr lang="en-US" altLang="zh-CN">
                        <a:latin typeface="Times New Roman" panose="02020503050405090304" charset="0"/>
                        <a:cs typeface="Times New Roman" panose="02020503050405090304" charset="0"/>
                      </a:endParaRPr>
                    </a:p>
                  </a:txBody>
                  <a:tcPr/>
                </a:tc>
              </a:tr>
              <a:tr h="365760">
                <a:tc>
                  <a:txBody>
                    <a:bodyPr/>
                    <a:p>
                      <a:pPr algn="ctr">
                        <a:buNone/>
                      </a:pPr>
                      <a:r>
                        <a:rPr lang="en-US" altLang="zh-CN">
                          <a:latin typeface="Times New Roman" panose="02020503050405090304" charset="0"/>
                          <a:cs typeface="Times New Roman" panose="02020503050405090304" charset="0"/>
                        </a:rPr>
                        <a:t>B</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6</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5</a:t>
                      </a:r>
                      <a:endParaRPr lang="en-US" altLang="zh-CN">
                        <a:latin typeface="Times New Roman" panose="02020503050405090304" charset="0"/>
                        <a:cs typeface="Times New Roman" panose="02020503050405090304" charset="0"/>
                      </a:endParaRPr>
                    </a:p>
                  </a:txBody>
                  <a:tcPr/>
                </a:tc>
              </a:tr>
              <a:tr h="365760">
                <a:tc>
                  <a:txBody>
                    <a:bodyPr/>
                    <a:p>
                      <a:pPr algn="ctr">
                        <a:buNone/>
                      </a:pPr>
                      <a:r>
                        <a:rPr lang="en-US" altLang="zh-CN">
                          <a:latin typeface="Times New Roman" panose="02020503050405090304" charset="0"/>
                          <a:cs typeface="Times New Roman" panose="02020503050405090304" charset="0"/>
                        </a:rPr>
                        <a:t>C</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2</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2</a:t>
                      </a:r>
                      <a:endParaRPr lang="en-US" altLang="zh-CN">
                        <a:latin typeface="Times New Roman" panose="02020503050405090304" charset="0"/>
                        <a:cs typeface="Times New Roman" panose="02020503050405090304" charset="0"/>
                      </a:endParaRPr>
                    </a:p>
                  </a:txBody>
                  <a:tcPr/>
                </a:tc>
              </a:tr>
              <a:tr h="365760">
                <a:tc>
                  <a:txBody>
                    <a:bodyPr/>
                    <a:p>
                      <a:pPr algn="ctr">
                        <a:buNone/>
                      </a:pPr>
                      <a:r>
                        <a:rPr lang="en-US" altLang="zh-CN">
                          <a:latin typeface="Times New Roman" panose="02020503050405090304" charset="0"/>
                          <a:cs typeface="Times New Roman" panose="02020503050405090304" charset="0"/>
                        </a:rPr>
                        <a:t>D</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4</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1</a:t>
                      </a:r>
                      <a:endParaRPr lang="en-US" altLang="zh-CN">
                        <a:latin typeface="Times New Roman" panose="02020503050405090304" charset="0"/>
                        <a:cs typeface="Times New Roman" panose="02020503050405090304" charset="0"/>
                      </a:endParaRPr>
                    </a:p>
                  </a:txBody>
                  <a:tcPr/>
                </a:tc>
              </a:tr>
              <a:tr h="365760">
                <a:tc>
                  <a:txBody>
                    <a:bodyPr/>
                    <a:p>
                      <a:pPr algn="ctr">
                        <a:buNone/>
                      </a:pPr>
                      <a:r>
                        <a:rPr lang="en-US" altLang="zh-CN">
                          <a:latin typeface="Times New Roman" panose="02020503050405090304" charset="0"/>
                          <a:cs typeface="Times New Roman" panose="02020503050405090304" charset="0"/>
                        </a:rPr>
                        <a:t>E</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8</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4</a:t>
                      </a:r>
                      <a:endParaRPr lang="en-US" altLang="zh-CN">
                        <a:latin typeface="Times New Roman" panose="02020503050405090304" charset="0"/>
                        <a:cs typeface="Times New Roman" panose="02020503050405090304" charset="0"/>
                      </a:endParaRPr>
                    </a:p>
                  </a:txBody>
                  <a:tcPr/>
                </a:tc>
              </a:tr>
            </a:tbl>
          </a:graphicData>
        </a:graphic>
      </p:graphicFrame>
    </p:spTree>
    <p:custDataLst>
      <p:tags r:id="rId4"/>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198825"/>
            <a:ext cx="10969200" cy="705600"/>
          </a:xfrm>
        </p:spPr>
        <p:txBody>
          <a:bodyPr/>
          <a:p>
            <a:r>
              <a:rPr lang="zh-CN" altLang="en-US">
                <a:latin typeface="Times New Roman" panose="02020503050405090304" charset="0"/>
                <a:cs typeface="Times New Roman" panose="02020503050405090304" charset="0"/>
              </a:rPr>
              <a:t>课堂检测</a:t>
            </a:r>
            <a:endParaRPr lang="zh-CN" altLang="en-US">
              <a:latin typeface="Times New Roman" panose="02020503050405090304" charset="0"/>
              <a:cs typeface="Times New Roman" panose="02020503050405090304" charset="0"/>
            </a:endParaRPr>
          </a:p>
        </p:txBody>
      </p:sp>
      <p:sp>
        <p:nvSpPr>
          <p:cNvPr id="3" name="内容占位符 2"/>
          <p:cNvSpPr>
            <a:spLocks noGrp="1"/>
          </p:cNvSpPr>
          <p:nvPr>
            <p:ph idx="1"/>
            <p:custDataLst>
              <p:tags r:id="rId2"/>
            </p:custDataLst>
          </p:nvPr>
        </p:nvSpPr>
        <p:spPr>
          <a:xfrm>
            <a:off x="608330" y="904240"/>
            <a:ext cx="10968990" cy="6033770"/>
          </a:xfrm>
        </p:spPr>
        <p:txBody>
          <a:bodyPr>
            <a:noAutofit/>
          </a:bodyPr>
          <a:p>
            <a:r>
              <a:rPr lang="en-US" altLang="zh-CN">
                <a:latin typeface="Times New Roman" panose="02020503050405090304" charset="0"/>
                <a:cs typeface="Times New Roman" panose="02020503050405090304" charset="0"/>
              </a:rPr>
              <a:t>(a) Round robin.</a:t>
            </a:r>
            <a:endParaRPr lang="en-US" altLang="zh-CN">
              <a:latin typeface="Times New Roman" panose="02020503050405090304" charset="0"/>
              <a:cs typeface="Times New Roman" panose="02020503050405090304" charset="0"/>
            </a:endParaRPr>
          </a:p>
          <a:p>
            <a:endParaRPr lang="en-US" altLang="zh-CN">
              <a:latin typeface="Times New Roman" panose="02020503050405090304" charset="0"/>
              <a:cs typeface="Times New Roman" panose="02020503050405090304" charset="0"/>
            </a:endParaRPr>
          </a:p>
          <a:p>
            <a:pPr marL="0" indent="457200">
              <a:buNone/>
            </a:pPr>
            <a:r>
              <a:rPr lang="en-US" altLang="zh-CN">
                <a:latin typeface="Times New Roman" panose="02020503050405090304" charset="0"/>
                <a:cs typeface="Times New Roman" panose="02020503050405090304" charset="0"/>
              </a:rPr>
              <a:t>（10+18+24+28+30）/5=22</a:t>
            </a:r>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(b) Priority scheduling.</a:t>
            </a:r>
            <a:endParaRPr lang="en-US" altLang="zh-CN">
              <a:latin typeface="Times New Roman" panose="02020503050405090304" charset="0"/>
              <a:cs typeface="Times New Roman" panose="02020503050405090304" charset="0"/>
            </a:endParaRPr>
          </a:p>
          <a:p>
            <a:endParaRPr lang="en-US" altLang="zh-CN">
              <a:latin typeface="Times New Roman" panose="02020503050405090304" charset="0"/>
              <a:cs typeface="Times New Roman" panose="02020503050405090304" charset="0"/>
            </a:endParaRPr>
          </a:p>
          <a:p>
            <a:pPr marL="0" indent="457200">
              <a:buNone/>
            </a:pPr>
            <a:r>
              <a:rPr lang="en-US" altLang="zh-CN">
                <a:latin typeface="Times New Roman" panose="02020503050405090304" charset="0"/>
                <a:cs typeface="Times New Roman" panose="02020503050405090304" charset="0"/>
              </a:rPr>
              <a:t>（6+14+24+26+30）/5=20</a:t>
            </a:r>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(c) First-come, first-served (run in order 10, 6, 2, 4, 8).</a:t>
            </a:r>
            <a:endParaRPr lang="en-US" altLang="zh-CN">
              <a:latin typeface="Times New Roman" panose="02020503050405090304" charset="0"/>
              <a:cs typeface="Times New Roman" panose="02020503050405090304" charset="0"/>
            </a:endParaRPr>
          </a:p>
          <a:p>
            <a:pPr marL="0" indent="457200">
              <a:buNone/>
            </a:pPr>
            <a:r>
              <a:rPr lang="en-US" altLang="zh-CN">
                <a:latin typeface="Times New Roman" panose="02020503050405090304" charset="0"/>
                <a:cs typeface="Times New Roman" panose="02020503050405090304" charset="0"/>
              </a:rPr>
              <a:t>（10+16+18+22+30）/5=19.2</a:t>
            </a:r>
            <a:endParaRPr lang="en-US" altLang="zh-CN">
              <a:latin typeface="Times New Roman" panose="02020503050405090304" charset="0"/>
              <a:cs typeface="Times New Roman" panose="02020503050405090304" charset="0"/>
            </a:endParaRPr>
          </a:p>
          <a:p>
            <a:pPr marL="0" indent="0">
              <a:buNone/>
            </a:pPr>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(d) Shortest job first.</a:t>
            </a:r>
            <a:endParaRPr lang="en-US" altLang="zh-CN">
              <a:latin typeface="Times New Roman" panose="02020503050405090304" charset="0"/>
              <a:cs typeface="Times New Roman" panose="02020503050405090304" charset="0"/>
            </a:endParaRPr>
          </a:p>
          <a:p>
            <a:endParaRPr lang="en-US" altLang="zh-CN">
              <a:latin typeface="Times New Roman" panose="02020503050405090304" charset="0"/>
              <a:cs typeface="Times New Roman" panose="02020503050405090304" charset="0"/>
            </a:endParaRPr>
          </a:p>
          <a:p>
            <a:pPr marL="0" indent="457200">
              <a:buNone/>
            </a:pPr>
            <a:r>
              <a:rPr lang="en-US" altLang="zh-CN">
                <a:latin typeface="Times New Roman" panose="02020503050405090304" charset="0"/>
                <a:cs typeface="Times New Roman" panose="02020503050405090304" charset="0"/>
              </a:rPr>
              <a:t>（2+6+12+20+30）/5=14</a:t>
            </a:r>
            <a:endParaRPr lang="en-US" altLang="zh-CN">
              <a:latin typeface="Times New Roman" panose="02020503050405090304" charset="0"/>
              <a:cs typeface="Times New Roman" panose="02020503050405090304" charset="0"/>
            </a:endParaRPr>
          </a:p>
          <a:p>
            <a:pPr marL="0" indent="0">
              <a:buNone/>
            </a:pPr>
            <a:endParaRPr lang="en-US" altLang="zh-CN">
              <a:latin typeface="Times New Roman" panose="02020503050405090304" charset="0"/>
              <a:cs typeface="Times New Roman" panose="02020503050405090304" charset="0"/>
            </a:endParaRPr>
          </a:p>
          <a:p>
            <a:endParaRPr lang="en-US" altLang="zh-CN">
              <a:latin typeface="Times New Roman" panose="02020503050405090304" charset="0"/>
              <a:cs typeface="Times New Roman" panose="02020503050405090304" charset="0"/>
            </a:endParaRPr>
          </a:p>
          <a:p>
            <a:endParaRPr lang="en-US" altLang="zh-CN">
              <a:latin typeface="Times New Roman" panose="02020503050405090304" charset="0"/>
              <a:cs typeface="Times New Roman" panose="02020503050405090304" charset="0"/>
            </a:endParaRPr>
          </a:p>
          <a:p>
            <a:pPr marL="0" indent="0">
              <a:buNone/>
            </a:pPr>
            <a:endParaRPr lang="en-US" altLang="zh-CN">
              <a:latin typeface="Times New Roman" panose="02020503050405090304" charset="0"/>
              <a:cs typeface="Times New Roman" panose="02020503050405090304" charset="0"/>
            </a:endParaRPr>
          </a:p>
        </p:txBody>
      </p:sp>
      <p:sp>
        <p:nvSpPr>
          <p:cNvPr id="4" name="矩形 3"/>
          <p:cNvSpPr/>
          <p:nvPr/>
        </p:nvSpPr>
        <p:spPr>
          <a:xfrm>
            <a:off x="962025" y="2995295"/>
            <a:ext cx="1089025"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B</a:t>
            </a:r>
            <a:endParaRPr lang="en-US" altLang="zh-CN">
              <a:solidFill>
                <a:schemeClr val="tx1"/>
              </a:solidFill>
              <a:latin typeface="Times New Roman" panose="02020503050405090304" charset="0"/>
              <a:cs typeface="Times New Roman" panose="02020503050405090304" charset="0"/>
            </a:endParaRPr>
          </a:p>
        </p:txBody>
      </p:sp>
      <p:graphicFrame>
        <p:nvGraphicFramePr>
          <p:cNvPr id="6" name="表格 5"/>
          <p:cNvGraphicFramePr/>
          <p:nvPr>
            <p:custDataLst>
              <p:tags r:id="rId3"/>
            </p:custDataLst>
          </p:nvPr>
        </p:nvGraphicFramePr>
        <p:xfrm>
          <a:off x="8468995" y="2339975"/>
          <a:ext cx="2905125" cy="2227580"/>
        </p:xfrm>
        <a:graphic>
          <a:graphicData uri="http://schemas.openxmlformats.org/drawingml/2006/table">
            <a:tbl>
              <a:tblPr firstRow="1" bandRow="1">
                <a:tableStyleId>{9D7B26C5-4107-4FEC-AEDC-1716B250A1EF}</a:tableStyleId>
              </a:tblPr>
              <a:tblGrid>
                <a:gridCol w="968375"/>
                <a:gridCol w="968375"/>
                <a:gridCol w="968375"/>
              </a:tblGrid>
              <a:tr h="398780">
                <a:tc>
                  <a:txBody>
                    <a:bodyPr/>
                    <a:p>
                      <a:pPr algn="ctr">
                        <a:buNone/>
                      </a:pPr>
                      <a:endParaRPr lang="zh-CN" altLang="en-US">
                        <a:latin typeface="Times New Roman" panose="02020503050405090304" charset="0"/>
                        <a:cs typeface="Times New Roman" panose="02020503050405090304" charset="0"/>
                      </a:endParaRPr>
                    </a:p>
                  </a:txBody>
                  <a:tcPr/>
                </a:tc>
                <a:tc>
                  <a:txBody>
                    <a:bodyPr/>
                    <a:p>
                      <a:pPr algn="ctr">
                        <a:buNone/>
                      </a:pPr>
                      <a:r>
                        <a:rPr lang="en-US" altLang="zh-CN" sz="1800">
                          <a:latin typeface="Times New Roman" panose="02020503050405090304" charset="0"/>
                          <a:cs typeface="Times New Roman" panose="02020503050405090304" charset="0"/>
                          <a:sym typeface="+mn-ea"/>
                        </a:rPr>
                        <a:t>time</a:t>
                      </a:r>
                      <a:endParaRPr lang="en-US" altLang="zh-CN" sz="1800">
                        <a:latin typeface="Times New Roman" panose="02020503050405090304" charset="0"/>
                        <a:cs typeface="Times New Roman" panose="02020503050405090304" charset="0"/>
                        <a:sym typeface="+mn-ea"/>
                      </a:endParaRPr>
                    </a:p>
                  </a:txBody>
                  <a:tcPr/>
                </a:tc>
                <a:tc>
                  <a:txBody>
                    <a:bodyPr/>
                    <a:p>
                      <a:pPr algn="ctr">
                        <a:buNone/>
                      </a:pPr>
                      <a:r>
                        <a:rPr lang="en-US" altLang="zh-CN" sz="1800">
                          <a:latin typeface="Times New Roman" panose="02020503050405090304" charset="0"/>
                          <a:cs typeface="Times New Roman" panose="02020503050405090304" charset="0"/>
                          <a:sym typeface="+mn-ea"/>
                        </a:rPr>
                        <a:t>priorit</a:t>
                      </a:r>
                      <a:r>
                        <a:rPr lang="en-US" altLang="zh-CN" sz="1800">
                          <a:latin typeface="Times New Roman" panose="02020503050405090304" charset="0"/>
                          <a:cs typeface="Times New Roman" panose="02020503050405090304" charset="0"/>
                          <a:sym typeface="+mn-ea"/>
                        </a:rPr>
                        <a:t>y</a:t>
                      </a:r>
                      <a:endParaRPr lang="en-US" altLang="zh-CN" sz="1800">
                        <a:latin typeface="Times New Roman" panose="02020503050405090304" charset="0"/>
                        <a:cs typeface="Times New Roman" panose="02020503050405090304" charset="0"/>
                        <a:sym typeface="+mn-ea"/>
                      </a:endParaRPr>
                    </a:p>
                  </a:txBody>
                  <a:tcPr/>
                </a:tc>
              </a:tr>
              <a:tr h="365760">
                <a:tc>
                  <a:txBody>
                    <a:bodyPr/>
                    <a:p>
                      <a:pPr algn="ctr">
                        <a:buNone/>
                      </a:pPr>
                      <a:r>
                        <a:rPr lang="en-US" altLang="zh-CN">
                          <a:latin typeface="Times New Roman" panose="02020503050405090304" charset="0"/>
                          <a:cs typeface="Times New Roman" panose="02020503050405090304" charset="0"/>
                        </a:rPr>
                        <a:t>A</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10</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3</a:t>
                      </a:r>
                      <a:endParaRPr lang="en-US" altLang="zh-CN">
                        <a:latin typeface="Times New Roman" panose="02020503050405090304" charset="0"/>
                        <a:cs typeface="Times New Roman" panose="02020503050405090304" charset="0"/>
                      </a:endParaRPr>
                    </a:p>
                  </a:txBody>
                  <a:tcPr/>
                </a:tc>
              </a:tr>
              <a:tr h="365760">
                <a:tc>
                  <a:txBody>
                    <a:bodyPr/>
                    <a:p>
                      <a:pPr algn="ctr">
                        <a:buNone/>
                      </a:pPr>
                      <a:r>
                        <a:rPr lang="en-US" altLang="zh-CN">
                          <a:latin typeface="Times New Roman" panose="02020503050405090304" charset="0"/>
                          <a:cs typeface="Times New Roman" panose="02020503050405090304" charset="0"/>
                        </a:rPr>
                        <a:t>B</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6</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5</a:t>
                      </a:r>
                      <a:endParaRPr lang="en-US" altLang="zh-CN">
                        <a:latin typeface="Times New Roman" panose="02020503050405090304" charset="0"/>
                        <a:cs typeface="Times New Roman" panose="02020503050405090304" charset="0"/>
                      </a:endParaRPr>
                    </a:p>
                  </a:txBody>
                  <a:tcPr/>
                </a:tc>
              </a:tr>
              <a:tr h="365760">
                <a:tc>
                  <a:txBody>
                    <a:bodyPr/>
                    <a:p>
                      <a:pPr algn="ctr">
                        <a:buNone/>
                      </a:pPr>
                      <a:r>
                        <a:rPr lang="en-US" altLang="zh-CN">
                          <a:latin typeface="Times New Roman" panose="02020503050405090304" charset="0"/>
                          <a:cs typeface="Times New Roman" panose="02020503050405090304" charset="0"/>
                        </a:rPr>
                        <a:t>C</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2</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2</a:t>
                      </a:r>
                      <a:endParaRPr lang="en-US" altLang="zh-CN">
                        <a:latin typeface="Times New Roman" panose="02020503050405090304" charset="0"/>
                        <a:cs typeface="Times New Roman" panose="02020503050405090304" charset="0"/>
                      </a:endParaRPr>
                    </a:p>
                  </a:txBody>
                  <a:tcPr/>
                </a:tc>
              </a:tr>
              <a:tr h="365760">
                <a:tc>
                  <a:txBody>
                    <a:bodyPr/>
                    <a:p>
                      <a:pPr algn="ctr">
                        <a:buNone/>
                      </a:pPr>
                      <a:r>
                        <a:rPr lang="en-US" altLang="zh-CN">
                          <a:latin typeface="Times New Roman" panose="02020503050405090304" charset="0"/>
                          <a:cs typeface="Times New Roman" panose="02020503050405090304" charset="0"/>
                        </a:rPr>
                        <a:t>D</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4</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1</a:t>
                      </a:r>
                      <a:endParaRPr lang="en-US" altLang="zh-CN">
                        <a:latin typeface="Times New Roman" panose="02020503050405090304" charset="0"/>
                        <a:cs typeface="Times New Roman" panose="02020503050405090304" charset="0"/>
                      </a:endParaRPr>
                    </a:p>
                  </a:txBody>
                  <a:tcPr/>
                </a:tc>
              </a:tr>
              <a:tr h="365760">
                <a:tc>
                  <a:txBody>
                    <a:bodyPr/>
                    <a:p>
                      <a:pPr algn="ctr">
                        <a:buNone/>
                      </a:pPr>
                      <a:r>
                        <a:rPr lang="en-US" altLang="zh-CN">
                          <a:latin typeface="Times New Roman" panose="02020503050405090304" charset="0"/>
                          <a:cs typeface="Times New Roman" panose="02020503050405090304" charset="0"/>
                        </a:rPr>
                        <a:t>E</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8</a:t>
                      </a:r>
                      <a:endParaRPr lang="en-US" altLang="zh-CN">
                        <a:latin typeface="Times New Roman" panose="02020503050405090304" charset="0"/>
                        <a:cs typeface="Times New Roman" panose="02020503050405090304" charset="0"/>
                      </a:endParaRPr>
                    </a:p>
                  </a:txBody>
                  <a:tcPr/>
                </a:tc>
                <a:tc>
                  <a:txBody>
                    <a:bodyPr/>
                    <a:p>
                      <a:pPr algn="ctr">
                        <a:buNone/>
                      </a:pPr>
                      <a:r>
                        <a:rPr lang="en-US" altLang="zh-CN">
                          <a:latin typeface="Times New Roman" panose="02020503050405090304" charset="0"/>
                          <a:cs typeface="Times New Roman" panose="02020503050405090304" charset="0"/>
                        </a:rPr>
                        <a:t>4</a:t>
                      </a:r>
                      <a:endParaRPr lang="en-US" altLang="zh-CN">
                        <a:latin typeface="Times New Roman" panose="02020503050405090304" charset="0"/>
                        <a:cs typeface="Times New Roman" panose="02020503050405090304" charset="0"/>
                      </a:endParaRPr>
                    </a:p>
                  </a:txBody>
                  <a:tcPr/>
                </a:tc>
              </a:tr>
            </a:tbl>
          </a:graphicData>
        </a:graphic>
      </p:graphicFrame>
      <p:sp>
        <p:nvSpPr>
          <p:cNvPr id="7" name="矩形 6"/>
          <p:cNvSpPr/>
          <p:nvPr/>
        </p:nvSpPr>
        <p:spPr>
          <a:xfrm>
            <a:off x="2051050" y="2995295"/>
            <a:ext cx="1401445"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E</a:t>
            </a:r>
            <a:endParaRPr lang="en-US" altLang="zh-CN">
              <a:solidFill>
                <a:schemeClr val="tx1"/>
              </a:solidFill>
              <a:latin typeface="Times New Roman" panose="02020503050405090304" charset="0"/>
              <a:cs typeface="Times New Roman" panose="02020503050405090304" charset="0"/>
            </a:endParaRPr>
          </a:p>
        </p:txBody>
      </p:sp>
      <p:sp>
        <p:nvSpPr>
          <p:cNvPr id="8" name="矩形 7"/>
          <p:cNvSpPr/>
          <p:nvPr/>
        </p:nvSpPr>
        <p:spPr>
          <a:xfrm>
            <a:off x="3452495" y="2995295"/>
            <a:ext cx="1761490"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A</a:t>
            </a:r>
            <a:endParaRPr lang="en-US" altLang="zh-CN">
              <a:solidFill>
                <a:schemeClr val="tx1"/>
              </a:solidFill>
              <a:latin typeface="Times New Roman" panose="02020503050405090304" charset="0"/>
              <a:cs typeface="Times New Roman" panose="02020503050405090304" charset="0"/>
            </a:endParaRPr>
          </a:p>
        </p:txBody>
      </p:sp>
      <p:sp>
        <p:nvSpPr>
          <p:cNvPr id="9" name="矩形 8"/>
          <p:cNvSpPr/>
          <p:nvPr/>
        </p:nvSpPr>
        <p:spPr>
          <a:xfrm>
            <a:off x="5213985" y="2995295"/>
            <a:ext cx="692150"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C</a:t>
            </a:r>
            <a:endParaRPr lang="en-US" altLang="zh-CN">
              <a:solidFill>
                <a:schemeClr val="tx1"/>
              </a:solidFill>
              <a:latin typeface="Times New Roman" panose="02020503050405090304" charset="0"/>
              <a:cs typeface="Times New Roman" panose="02020503050405090304" charset="0"/>
            </a:endParaRPr>
          </a:p>
        </p:txBody>
      </p:sp>
      <p:sp>
        <p:nvSpPr>
          <p:cNvPr id="10" name="矩形 9"/>
          <p:cNvSpPr/>
          <p:nvPr/>
        </p:nvSpPr>
        <p:spPr>
          <a:xfrm>
            <a:off x="5906135" y="2995295"/>
            <a:ext cx="1089025"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D</a:t>
            </a:r>
            <a:endParaRPr lang="en-US" altLang="zh-CN">
              <a:solidFill>
                <a:schemeClr val="tx1"/>
              </a:solidFill>
              <a:latin typeface="Times New Roman" panose="02020503050405090304" charset="0"/>
              <a:cs typeface="Times New Roman" panose="02020503050405090304" charset="0"/>
            </a:endParaRPr>
          </a:p>
        </p:txBody>
      </p:sp>
      <p:sp>
        <p:nvSpPr>
          <p:cNvPr id="11" name="文本框 10"/>
          <p:cNvSpPr txBox="1"/>
          <p:nvPr/>
        </p:nvSpPr>
        <p:spPr>
          <a:xfrm>
            <a:off x="1911985" y="2790825"/>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6</a:t>
            </a:r>
            <a:endParaRPr lang="en-US" altLang="zh-CN">
              <a:latin typeface="Times New Roman" panose="02020503050405090304" charset="0"/>
              <a:cs typeface="Times New Roman" panose="02020503050405090304" charset="0"/>
            </a:endParaRPr>
          </a:p>
        </p:txBody>
      </p:sp>
      <p:sp>
        <p:nvSpPr>
          <p:cNvPr id="12" name="文本框 11"/>
          <p:cNvSpPr txBox="1"/>
          <p:nvPr/>
        </p:nvSpPr>
        <p:spPr>
          <a:xfrm>
            <a:off x="3302635" y="2790825"/>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14</a:t>
            </a:r>
            <a:endParaRPr lang="en-US" altLang="zh-CN">
              <a:latin typeface="Times New Roman" panose="02020503050405090304" charset="0"/>
              <a:cs typeface="Times New Roman" panose="02020503050405090304" charset="0"/>
            </a:endParaRPr>
          </a:p>
        </p:txBody>
      </p:sp>
      <p:sp>
        <p:nvSpPr>
          <p:cNvPr id="13" name="文本框 12"/>
          <p:cNvSpPr txBox="1"/>
          <p:nvPr/>
        </p:nvSpPr>
        <p:spPr>
          <a:xfrm>
            <a:off x="4947285" y="2790825"/>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24</a:t>
            </a:r>
            <a:endParaRPr lang="en-US" altLang="zh-CN">
              <a:latin typeface="Times New Roman" panose="02020503050405090304" charset="0"/>
              <a:cs typeface="Times New Roman" panose="02020503050405090304" charset="0"/>
            </a:endParaRPr>
          </a:p>
        </p:txBody>
      </p:sp>
      <p:sp>
        <p:nvSpPr>
          <p:cNvPr id="14" name="文本框 13"/>
          <p:cNvSpPr txBox="1"/>
          <p:nvPr/>
        </p:nvSpPr>
        <p:spPr>
          <a:xfrm>
            <a:off x="5679440" y="2790825"/>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26</a:t>
            </a:r>
            <a:endParaRPr lang="en-US" altLang="zh-CN">
              <a:latin typeface="Times New Roman" panose="02020503050405090304" charset="0"/>
              <a:cs typeface="Times New Roman" panose="02020503050405090304" charset="0"/>
            </a:endParaRPr>
          </a:p>
        </p:txBody>
      </p:sp>
      <p:sp>
        <p:nvSpPr>
          <p:cNvPr id="15" name="文本框 14"/>
          <p:cNvSpPr txBox="1"/>
          <p:nvPr/>
        </p:nvSpPr>
        <p:spPr>
          <a:xfrm>
            <a:off x="6757035" y="2790825"/>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30</a:t>
            </a:r>
            <a:endParaRPr lang="en-US" altLang="zh-CN">
              <a:latin typeface="Times New Roman" panose="02020503050405090304" charset="0"/>
              <a:cs typeface="Times New Roman" panose="02020503050405090304" charset="0"/>
            </a:endParaRPr>
          </a:p>
        </p:txBody>
      </p:sp>
      <p:sp>
        <p:nvSpPr>
          <p:cNvPr id="17" name="矩形 16"/>
          <p:cNvSpPr/>
          <p:nvPr/>
        </p:nvSpPr>
        <p:spPr>
          <a:xfrm>
            <a:off x="962025" y="5805805"/>
            <a:ext cx="692150"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C</a:t>
            </a:r>
            <a:endParaRPr lang="en-US" altLang="zh-CN">
              <a:solidFill>
                <a:schemeClr val="tx1"/>
              </a:solidFill>
              <a:latin typeface="Times New Roman" panose="02020503050405090304" charset="0"/>
              <a:cs typeface="Times New Roman" panose="02020503050405090304" charset="0"/>
            </a:endParaRPr>
          </a:p>
        </p:txBody>
      </p:sp>
      <p:sp>
        <p:nvSpPr>
          <p:cNvPr id="18" name="矩形 17"/>
          <p:cNvSpPr/>
          <p:nvPr/>
        </p:nvSpPr>
        <p:spPr>
          <a:xfrm>
            <a:off x="1654175" y="5805805"/>
            <a:ext cx="1089025"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D</a:t>
            </a:r>
            <a:endParaRPr lang="en-US" altLang="zh-CN">
              <a:solidFill>
                <a:schemeClr val="tx1"/>
              </a:solidFill>
              <a:latin typeface="Times New Roman" panose="02020503050405090304" charset="0"/>
              <a:cs typeface="Times New Roman" panose="02020503050405090304" charset="0"/>
            </a:endParaRPr>
          </a:p>
        </p:txBody>
      </p:sp>
      <p:sp>
        <p:nvSpPr>
          <p:cNvPr id="19" name="矩形 18"/>
          <p:cNvSpPr/>
          <p:nvPr/>
        </p:nvSpPr>
        <p:spPr>
          <a:xfrm>
            <a:off x="3843655" y="5805805"/>
            <a:ext cx="1401445"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E</a:t>
            </a:r>
            <a:endParaRPr lang="en-US" altLang="zh-CN">
              <a:solidFill>
                <a:schemeClr val="tx1"/>
              </a:solidFill>
              <a:latin typeface="Times New Roman" panose="02020503050405090304" charset="0"/>
              <a:cs typeface="Times New Roman" panose="02020503050405090304" charset="0"/>
            </a:endParaRPr>
          </a:p>
        </p:txBody>
      </p:sp>
      <p:sp>
        <p:nvSpPr>
          <p:cNvPr id="20" name="文本框 19"/>
          <p:cNvSpPr txBox="1"/>
          <p:nvPr/>
        </p:nvSpPr>
        <p:spPr>
          <a:xfrm>
            <a:off x="1537335" y="5600700"/>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2</a:t>
            </a:r>
            <a:endParaRPr lang="en-US" altLang="zh-CN">
              <a:latin typeface="Times New Roman" panose="02020503050405090304" charset="0"/>
              <a:cs typeface="Times New Roman" panose="02020503050405090304" charset="0"/>
            </a:endParaRPr>
          </a:p>
        </p:txBody>
      </p:sp>
      <p:sp>
        <p:nvSpPr>
          <p:cNvPr id="21" name="矩形 20"/>
          <p:cNvSpPr/>
          <p:nvPr/>
        </p:nvSpPr>
        <p:spPr>
          <a:xfrm>
            <a:off x="2748915" y="5805805"/>
            <a:ext cx="1089025"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B</a:t>
            </a:r>
            <a:endParaRPr lang="en-US" altLang="zh-CN">
              <a:solidFill>
                <a:schemeClr val="tx1"/>
              </a:solidFill>
              <a:latin typeface="Times New Roman" panose="02020503050405090304" charset="0"/>
              <a:cs typeface="Times New Roman" panose="02020503050405090304" charset="0"/>
            </a:endParaRPr>
          </a:p>
        </p:txBody>
      </p:sp>
      <p:sp>
        <p:nvSpPr>
          <p:cNvPr id="22" name="矩形 21"/>
          <p:cNvSpPr/>
          <p:nvPr/>
        </p:nvSpPr>
        <p:spPr>
          <a:xfrm>
            <a:off x="5250815" y="5805805"/>
            <a:ext cx="1761490"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A</a:t>
            </a:r>
            <a:endParaRPr lang="en-US" altLang="zh-CN">
              <a:solidFill>
                <a:schemeClr val="tx1"/>
              </a:solidFill>
              <a:latin typeface="Times New Roman" panose="02020503050405090304" charset="0"/>
              <a:cs typeface="Times New Roman" panose="02020503050405090304" charset="0"/>
            </a:endParaRPr>
          </a:p>
        </p:txBody>
      </p:sp>
      <p:sp>
        <p:nvSpPr>
          <p:cNvPr id="23" name="文本框 22"/>
          <p:cNvSpPr txBox="1"/>
          <p:nvPr/>
        </p:nvSpPr>
        <p:spPr>
          <a:xfrm>
            <a:off x="2620645" y="5600700"/>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6</a:t>
            </a:r>
            <a:endParaRPr lang="en-US" altLang="zh-CN">
              <a:latin typeface="Times New Roman" panose="02020503050405090304" charset="0"/>
              <a:cs typeface="Times New Roman" panose="02020503050405090304" charset="0"/>
            </a:endParaRPr>
          </a:p>
        </p:txBody>
      </p:sp>
      <p:sp>
        <p:nvSpPr>
          <p:cNvPr id="24" name="文本框 23"/>
          <p:cNvSpPr txBox="1"/>
          <p:nvPr/>
        </p:nvSpPr>
        <p:spPr>
          <a:xfrm>
            <a:off x="3669665" y="5600700"/>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12</a:t>
            </a:r>
            <a:endParaRPr lang="en-US" altLang="zh-CN">
              <a:latin typeface="Times New Roman" panose="02020503050405090304" charset="0"/>
              <a:cs typeface="Times New Roman" panose="02020503050405090304" charset="0"/>
            </a:endParaRPr>
          </a:p>
        </p:txBody>
      </p:sp>
      <p:sp>
        <p:nvSpPr>
          <p:cNvPr id="25" name="文本框 24"/>
          <p:cNvSpPr txBox="1"/>
          <p:nvPr/>
        </p:nvSpPr>
        <p:spPr>
          <a:xfrm>
            <a:off x="5052695" y="5600700"/>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20</a:t>
            </a:r>
            <a:endParaRPr lang="en-US" altLang="zh-CN">
              <a:latin typeface="Times New Roman" panose="02020503050405090304" charset="0"/>
              <a:cs typeface="Times New Roman" panose="02020503050405090304" charset="0"/>
            </a:endParaRPr>
          </a:p>
        </p:txBody>
      </p:sp>
      <p:sp>
        <p:nvSpPr>
          <p:cNvPr id="26" name="文本框 25"/>
          <p:cNvSpPr txBox="1"/>
          <p:nvPr/>
        </p:nvSpPr>
        <p:spPr>
          <a:xfrm>
            <a:off x="6755765" y="5600700"/>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30</a:t>
            </a:r>
            <a:endParaRPr lang="en-US" altLang="zh-CN">
              <a:latin typeface="Times New Roman" panose="02020503050405090304" charset="0"/>
              <a:cs typeface="Times New Roman" panose="02020503050405090304" charset="0"/>
            </a:endParaRPr>
          </a:p>
        </p:txBody>
      </p:sp>
      <p:sp>
        <p:nvSpPr>
          <p:cNvPr id="27" name="矩形 26"/>
          <p:cNvSpPr/>
          <p:nvPr/>
        </p:nvSpPr>
        <p:spPr>
          <a:xfrm>
            <a:off x="962025" y="1485900"/>
            <a:ext cx="1761490"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A</a:t>
            </a:r>
            <a:r>
              <a:rPr lang="en-US" altLang="zh-CN">
                <a:solidFill>
                  <a:schemeClr val="tx1"/>
                </a:solidFill>
                <a:latin typeface="Times New Roman" panose="02020503050405090304" charset="0"/>
                <a:cs typeface="Times New Roman" panose="02020503050405090304" charset="0"/>
              </a:rPr>
              <a:t>BCDE</a:t>
            </a:r>
            <a:endParaRPr lang="en-US" altLang="zh-CN">
              <a:solidFill>
                <a:schemeClr val="tx1"/>
              </a:solidFill>
              <a:latin typeface="Times New Roman" panose="02020503050405090304" charset="0"/>
              <a:cs typeface="Times New Roman" panose="02020503050405090304" charset="0"/>
            </a:endParaRPr>
          </a:p>
        </p:txBody>
      </p:sp>
      <p:sp>
        <p:nvSpPr>
          <p:cNvPr id="28" name="文本框 27"/>
          <p:cNvSpPr txBox="1"/>
          <p:nvPr/>
        </p:nvSpPr>
        <p:spPr>
          <a:xfrm>
            <a:off x="2529840" y="1257300"/>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10</a:t>
            </a:r>
            <a:endParaRPr lang="en-US" altLang="zh-CN">
              <a:latin typeface="Times New Roman" panose="02020503050405090304" charset="0"/>
              <a:cs typeface="Times New Roman" panose="02020503050405090304" charset="0"/>
            </a:endParaRPr>
          </a:p>
        </p:txBody>
      </p:sp>
      <p:sp>
        <p:nvSpPr>
          <p:cNvPr id="29" name="矩形 28"/>
          <p:cNvSpPr/>
          <p:nvPr/>
        </p:nvSpPr>
        <p:spPr>
          <a:xfrm>
            <a:off x="2723515" y="1485900"/>
            <a:ext cx="1401445"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A</a:t>
            </a:r>
            <a:r>
              <a:rPr lang="en-US" altLang="zh-CN">
                <a:solidFill>
                  <a:schemeClr val="tx1"/>
                </a:solidFill>
                <a:latin typeface="Times New Roman" panose="02020503050405090304" charset="0"/>
                <a:cs typeface="Times New Roman" panose="02020503050405090304" charset="0"/>
              </a:rPr>
              <a:t>BDE</a:t>
            </a:r>
            <a:endParaRPr lang="en-US" altLang="zh-CN">
              <a:solidFill>
                <a:schemeClr val="tx1"/>
              </a:solidFill>
              <a:latin typeface="Times New Roman" panose="02020503050405090304" charset="0"/>
              <a:cs typeface="Times New Roman" panose="02020503050405090304" charset="0"/>
            </a:endParaRPr>
          </a:p>
        </p:txBody>
      </p:sp>
      <p:sp>
        <p:nvSpPr>
          <p:cNvPr id="30" name="文本框 29"/>
          <p:cNvSpPr txBox="1"/>
          <p:nvPr/>
        </p:nvSpPr>
        <p:spPr>
          <a:xfrm>
            <a:off x="3910330" y="1257300"/>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18</a:t>
            </a:r>
            <a:endParaRPr lang="en-US" altLang="zh-CN">
              <a:latin typeface="Times New Roman" panose="02020503050405090304" charset="0"/>
              <a:cs typeface="Times New Roman" panose="02020503050405090304" charset="0"/>
            </a:endParaRPr>
          </a:p>
        </p:txBody>
      </p:sp>
      <p:sp>
        <p:nvSpPr>
          <p:cNvPr id="32" name="矩形 31"/>
          <p:cNvSpPr/>
          <p:nvPr/>
        </p:nvSpPr>
        <p:spPr>
          <a:xfrm>
            <a:off x="4124960" y="1485900"/>
            <a:ext cx="1089025"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AB</a:t>
            </a:r>
            <a:r>
              <a:rPr lang="en-US" altLang="zh-CN">
                <a:solidFill>
                  <a:schemeClr val="tx1"/>
                </a:solidFill>
                <a:latin typeface="Times New Roman" panose="02020503050405090304" charset="0"/>
                <a:cs typeface="Times New Roman" panose="02020503050405090304" charset="0"/>
              </a:rPr>
              <a:t>E</a:t>
            </a:r>
            <a:endParaRPr lang="en-US" altLang="zh-CN">
              <a:solidFill>
                <a:schemeClr val="tx1"/>
              </a:solidFill>
              <a:latin typeface="Times New Roman" panose="02020503050405090304" charset="0"/>
              <a:cs typeface="Times New Roman" panose="02020503050405090304" charset="0"/>
            </a:endParaRPr>
          </a:p>
        </p:txBody>
      </p:sp>
      <p:sp>
        <p:nvSpPr>
          <p:cNvPr id="33" name="文本框 32"/>
          <p:cNvSpPr txBox="1"/>
          <p:nvPr/>
        </p:nvSpPr>
        <p:spPr>
          <a:xfrm>
            <a:off x="4993005" y="1257300"/>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24</a:t>
            </a:r>
            <a:endParaRPr lang="en-US" altLang="zh-CN">
              <a:latin typeface="Times New Roman" panose="02020503050405090304" charset="0"/>
              <a:cs typeface="Times New Roman" panose="02020503050405090304" charset="0"/>
            </a:endParaRPr>
          </a:p>
        </p:txBody>
      </p:sp>
      <p:sp>
        <p:nvSpPr>
          <p:cNvPr id="34" name="矩形 33"/>
          <p:cNvSpPr/>
          <p:nvPr/>
        </p:nvSpPr>
        <p:spPr>
          <a:xfrm>
            <a:off x="5213985" y="1485900"/>
            <a:ext cx="1089025"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AE</a:t>
            </a:r>
            <a:endParaRPr lang="en-US" altLang="zh-CN">
              <a:solidFill>
                <a:schemeClr val="tx1"/>
              </a:solidFill>
              <a:latin typeface="Times New Roman" panose="02020503050405090304" charset="0"/>
              <a:cs typeface="Times New Roman" panose="02020503050405090304" charset="0"/>
            </a:endParaRPr>
          </a:p>
        </p:txBody>
      </p:sp>
      <p:sp>
        <p:nvSpPr>
          <p:cNvPr id="35" name="文本框 34"/>
          <p:cNvSpPr txBox="1"/>
          <p:nvPr/>
        </p:nvSpPr>
        <p:spPr>
          <a:xfrm>
            <a:off x="6075680" y="1257300"/>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28</a:t>
            </a:r>
            <a:endParaRPr lang="en-US" altLang="zh-CN">
              <a:latin typeface="Times New Roman" panose="02020503050405090304" charset="0"/>
              <a:cs typeface="Times New Roman" panose="02020503050405090304" charset="0"/>
            </a:endParaRPr>
          </a:p>
        </p:txBody>
      </p:sp>
      <p:sp>
        <p:nvSpPr>
          <p:cNvPr id="36" name="矩形 35"/>
          <p:cNvSpPr/>
          <p:nvPr/>
        </p:nvSpPr>
        <p:spPr>
          <a:xfrm>
            <a:off x="6303645" y="1485900"/>
            <a:ext cx="692150" cy="27305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Times New Roman" panose="02020503050405090304" charset="0"/>
                <a:cs typeface="Times New Roman" panose="02020503050405090304" charset="0"/>
              </a:rPr>
              <a:t>E</a:t>
            </a:r>
            <a:endParaRPr lang="en-US" altLang="zh-CN">
              <a:solidFill>
                <a:schemeClr val="tx1"/>
              </a:solidFill>
              <a:latin typeface="Times New Roman" panose="02020503050405090304" charset="0"/>
              <a:cs typeface="Times New Roman" panose="02020503050405090304" charset="0"/>
            </a:endParaRPr>
          </a:p>
        </p:txBody>
      </p:sp>
      <p:sp>
        <p:nvSpPr>
          <p:cNvPr id="37" name="文本框 36"/>
          <p:cNvSpPr txBox="1"/>
          <p:nvPr/>
        </p:nvSpPr>
        <p:spPr>
          <a:xfrm>
            <a:off x="6755765" y="1257300"/>
            <a:ext cx="490855" cy="344805"/>
          </a:xfrm>
          <a:prstGeom prst="rect">
            <a:avLst/>
          </a:prstGeom>
          <a:noFill/>
        </p:spPr>
        <p:txBody>
          <a:bodyPr wrap="square" rtlCol="0">
            <a:noAutofit/>
          </a:bodyPr>
          <a:p>
            <a:r>
              <a:rPr lang="en-US" altLang="zh-CN">
                <a:latin typeface="Times New Roman" panose="02020503050405090304" charset="0"/>
                <a:cs typeface="Times New Roman" panose="02020503050405090304" charset="0"/>
              </a:rPr>
              <a:t>30</a:t>
            </a:r>
            <a:endParaRPr lang="en-US" altLang="zh-CN">
              <a:latin typeface="Times New Roman" panose="02020503050405090304" charset="0"/>
              <a:cs typeface="Times New Roman" panose="02020503050405090304" charset="0"/>
            </a:endParaRPr>
          </a:p>
        </p:txBody>
      </p:sp>
    </p:spTree>
    <p:custDataLst>
      <p:tags r:id="rId4"/>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0508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TABLE_ENDDRAG_ORIGIN_RECT" val="228*160"/>
  <p:tag name="TABLE_ENDDRAG_RECT" val="587*233*228*160"/>
</p:tagLst>
</file>

<file path=ppt/tags/tag105.xml><?xml version="1.0" encoding="utf-8"?>
<p:tagLst xmlns:p="http://schemas.openxmlformats.org/presentationml/2006/main">
  <p:tag name="KSO_WM_BEAUTIFY_FLAG" val="#wm#"/>
  <p:tag name="KSO_WM_TEMPLATE_CATEGORY" val="custom"/>
  <p:tag name="KSO_WM_TEMPLATE_INDEX" val="2020508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8.xml><?xml version="1.0" encoding="utf-8"?>
<p:tagLst xmlns:p="http://schemas.openxmlformats.org/presentationml/2006/main">
  <p:tag name="TABLE_ENDDRAG_ORIGIN_RECT" val="228*160"/>
  <p:tag name="TABLE_ENDDRAG_RECT" val="587*233*228*160"/>
</p:tagLst>
</file>

<file path=ppt/tags/tag109.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6619</Words>
  <Application>WPS 演示</Application>
  <PresentationFormat>宽屏</PresentationFormat>
  <Paragraphs>273</Paragraphs>
  <Slides>15</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宋体</vt:lpstr>
      <vt:lpstr>Wingdings</vt:lpstr>
      <vt:lpstr>Wingdings</vt:lpstr>
      <vt:lpstr>Times New Roman</vt:lpstr>
      <vt:lpstr>DejaVu Math TeX Gyre</vt:lpstr>
      <vt:lpstr>宋体</vt:lpstr>
      <vt:lpstr>汉仪书宋二KW</vt:lpstr>
      <vt:lpstr>苹方-简</vt:lpstr>
      <vt:lpstr>微软雅黑</vt:lpstr>
      <vt:lpstr>汉仪旗黑</vt:lpstr>
      <vt:lpstr>Arial Unicode MS</vt:lpstr>
      <vt:lpstr>WPS</vt:lpstr>
      <vt:lpstr>操作系统答疑</vt:lpstr>
      <vt:lpstr>Chapter 1</vt:lpstr>
      <vt:lpstr>Chapter 1</vt:lpstr>
      <vt:lpstr>Chapter 1</vt:lpstr>
      <vt:lpstr>Chapter 1</vt:lpstr>
      <vt:lpstr>Chapter 2</vt:lpstr>
      <vt:lpstr>Chapter 2</vt:lpstr>
      <vt:lpstr>Chapter 2</vt:lpstr>
      <vt:lpstr>Chapter 2</vt:lpstr>
      <vt:lpstr>Chapter 2</vt:lpstr>
      <vt:lpstr>Chapter 2</vt:lpstr>
      <vt:lpstr>Chapter 2</vt:lpstr>
      <vt:lpstr>Chapter 2</vt:lpstr>
      <vt:lpstr>课堂检测</vt:lpstr>
      <vt:lpstr>课堂检测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Aaa.张梓琳</cp:lastModifiedBy>
  <cp:revision>167</cp:revision>
  <dcterms:created xsi:type="dcterms:W3CDTF">2025-10-27T11:40:08Z</dcterms:created>
  <dcterms:modified xsi:type="dcterms:W3CDTF">2025-10-27T11:40:08Z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2052-12.1.23141.23141</vt:lpwstr>
  </property>
  <property fmtid="{D5CDD505-2E9C-101B-9397-08002B2CF9AE}" pid="3" name="ICV">
    <vt:lpwstr>486CD96325CFC53435DBF6688CC23000_41</vt:lpwstr>
  </property>
</Properties>
</file>